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c1b9732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7c1b9732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c1b97320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7c1b97320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structure of the transformer, we divide it into two micro blocks.</a:t>
            </a:r>
            <a:endParaRPr/>
          </a:p>
          <a:p>
            <a:pPr indent="0" lvl="0" marL="0" rtl="0" algn="l">
              <a:spcBef>
                <a:spcPts val="0"/>
              </a:spcBef>
              <a:spcAft>
                <a:spcPts val="0"/>
              </a:spcAft>
              <a:buNone/>
            </a:pPr>
            <a:r>
              <a:rPr lang="en"/>
              <a:t>The first part, Encoder: left</a:t>
            </a:r>
            <a:endParaRPr/>
          </a:p>
          <a:p>
            <a:pPr indent="0" lvl="0" marL="0" rtl="0" algn="l">
              <a:spcBef>
                <a:spcPts val="0"/>
              </a:spcBef>
              <a:spcAft>
                <a:spcPts val="0"/>
              </a:spcAft>
              <a:buNone/>
            </a:pPr>
            <a:r>
              <a:rPr lang="en"/>
              <a:t>The second part, Decoder: right</a:t>
            </a:r>
            <a:endParaRPr/>
          </a:p>
          <a:p>
            <a:pPr indent="0" lvl="0" marL="0" rtl="0" algn="l">
              <a:spcBef>
                <a:spcPts val="0"/>
              </a:spcBef>
              <a:spcAft>
                <a:spcPts val="0"/>
              </a:spcAft>
              <a:buNone/>
            </a:pPr>
            <a:r>
              <a:rPr lang="en"/>
              <a:t>Connected</a:t>
            </a:r>
            <a:r>
              <a:rPr lang="en"/>
              <a:t> such that the information from the encoder send to the decoder.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c1b97320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c1b97320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 sentence — token</a:t>
            </a:r>
            <a:endParaRPr/>
          </a:p>
          <a:p>
            <a:pPr indent="0" lvl="0" marL="0" rtl="0" algn="l">
              <a:spcBef>
                <a:spcPts val="0"/>
              </a:spcBef>
              <a:spcAft>
                <a:spcPts val="0"/>
              </a:spcAft>
              <a:buNone/>
            </a:pPr>
            <a:r>
              <a:rPr lang="en"/>
              <a:t>Input ID: Number — position in the vocabulary</a:t>
            </a:r>
            <a:endParaRPr/>
          </a:p>
          <a:p>
            <a:pPr indent="0" lvl="0" marL="0" rtl="0" algn="l">
              <a:spcBef>
                <a:spcPts val="0"/>
              </a:spcBef>
              <a:spcAft>
                <a:spcPts val="0"/>
              </a:spcAft>
              <a:buNone/>
            </a:pPr>
            <a:r>
              <a:rPr lang="en"/>
              <a:t>Input ID – input vector, embedding.</a:t>
            </a:r>
            <a:endParaRPr/>
          </a:p>
          <a:p>
            <a:pPr indent="0" lvl="0" marL="0" rtl="0" algn="l">
              <a:spcBef>
                <a:spcPts val="0"/>
              </a:spcBef>
              <a:spcAft>
                <a:spcPts val="0"/>
              </a:spcAft>
              <a:buNone/>
            </a:pPr>
            <a:r>
              <a:rPr lang="en"/>
              <a:t>We define d </a:t>
            </a:r>
            <a:r>
              <a:rPr lang="en"/>
              <a:t>mode = 512 which represent the size of embedding vector of each word.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Input ID will not change but input embedding will change according to the loss function.</a:t>
            </a:r>
            <a:endParaRPr/>
          </a:p>
          <a:p>
            <a:pPr indent="0" lvl="0" marL="0" rtl="0" algn="l">
              <a:spcBef>
                <a:spcPts val="0"/>
              </a:spcBef>
              <a:spcAft>
                <a:spcPts val="0"/>
              </a:spcAft>
              <a:buNone/>
            </a:pPr>
            <a:r>
              <a:rPr lang="en"/>
              <a:t>Our model will learn to change the number in the embedding vectors in such a way it represents the meaning of the word. It is basically a mapping from single word to a mapping to 515 vector.</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c1b97320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c1b97320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that each word to carry the information about its position in the sentence.</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the model to treat words that appear close to each other “close” and words that are distant as “distant”</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positional encoding to present a pattern that can learned by the model.</a:t>
            </a:r>
            <a:endParaRPr sz="900">
              <a:solidFill>
                <a:srgbClr val="595959"/>
              </a:solidFill>
            </a:endParaRPr>
          </a:p>
          <a:p>
            <a:pPr indent="0" lvl="0" marL="0" rtl="0" algn="l">
              <a:lnSpc>
                <a:spcPct val="115000"/>
              </a:lnSpc>
              <a:spcBef>
                <a:spcPts val="1200"/>
              </a:spcBef>
              <a:spcAft>
                <a:spcPts val="0"/>
              </a:spcAft>
              <a:buNone/>
            </a:pPr>
            <a:r>
              <a:t/>
            </a:r>
            <a:endParaRPr sz="900">
              <a:solidFill>
                <a:srgbClr val="595959"/>
              </a:solidFill>
            </a:endParaRPr>
          </a:p>
          <a:p>
            <a:pPr indent="0" lvl="0" marL="0" rtl="0" algn="l">
              <a:lnSpc>
                <a:spcPct val="115000"/>
              </a:lnSpc>
              <a:spcBef>
                <a:spcPts val="1200"/>
              </a:spcBef>
              <a:spcAft>
                <a:spcPts val="1200"/>
              </a:spcAft>
              <a:buNone/>
            </a:pPr>
            <a:r>
              <a:rPr lang="en" sz="900">
                <a:solidFill>
                  <a:srgbClr val="595959"/>
                </a:solidFill>
              </a:rPr>
              <a:t>After creating the embedding vectors, we add another vector (positional vector). It is fixed and not learned. This vector represent the position of word in the sentence. It gives the output of vector of size 512.</a:t>
            </a:r>
            <a:endParaRPr sz="900">
              <a:solidFill>
                <a:srgbClr val="595959"/>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c1b97320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c1b97320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c1b97320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c1b97320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40f9c6812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40f9c6812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c1b97320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c1b97320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40f9c681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40f9c681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c1b97320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c1b97320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40f9c681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40f9c681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bbdccadd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bbdccadd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bbdccadd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bbdccadd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bbdccadd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bbdccadd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94500" y="1620700"/>
            <a:ext cx="5637900" cy="1176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Transformers</a:t>
            </a:r>
            <a:endParaRPr/>
          </a:p>
        </p:txBody>
      </p:sp>
      <p:sp>
        <p:nvSpPr>
          <p:cNvPr id="55" name="Google Shape;55;p13"/>
          <p:cNvSpPr txBox="1"/>
          <p:nvPr>
            <p:ph idx="1" type="subTitle"/>
          </p:nvPr>
        </p:nvSpPr>
        <p:spPr>
          <a:xfrm>
            <a:off x="3866750" y="2834125"/>
            <a:ext cx="4965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Attention All You Need</a:t>
            </a:r>
            <a:endParaRPr/>
          </a:p>
        </p:txBody>
      </p:sp>
      <p:pic>
        <p:nvPicPr>
          <p:cNvPr id="56" name="Google Shape;56;p13"/>
          <p:cNvPicPr preferRelativeResize="0"/>
          <p:nvPr/>
        </p:nvPicPr>
        <p:blipFill>
          <a:blip r:embed="rId3">
            <a:alphaModFix/>
          </a:blip>
          <a:stretch>
            <a:fillRect/>
          </a:stretch>
        </p:blipFill>
        <p:spPr>
          <a:xfrm>
            <a:off x="1208450" y="1340575"/>
            <a:ext cx="2490275" cy="3031651"/>
          </a:xfrm>
          <a:prstGeom prst="rect">
            <a:avLst/>
          </a:prstGeom>
          <a:noFill/>
          <a:ln>
            <a:noFill/>
          </a:ln>
        </p:spPr>
      </p:pic>
      <p:sp>
        <p:nvSpPr>
          <p:cNvPr id="57" name="Google Shape;57;p13"/>
          <p:cNvSpPr txBox="1"/>
          <p:nvPr/>
        </p:nvSpPr>
        <p:spPr>
          <a:xfrm>
            <a:off x="1068300" y="463800"/>
            <a:ext cx="8093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Week 05: Read more material, a chapter from the book “ Deep Learning by Hugh Bishop” I confirmed how attention matrix Q,K, and V generated? Explain the embedding, tokenization and layering. Side 13, 14, and 15 (NEW)</a:t>
            </a:r>
            <a:endParaRPr sz="180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b="1" lang="en" sz="2000"/>
              <a:t>Limitations of Previous Models</a:t>
            </a:r>
            <a:endParaRPr sz="3500"/>
          </a:p>
        </p:txBody>
      </p:sp>
      <p:sp>
        <p:nvSpPr>
          <p:cNvPr id="63" name="Google Shape;63;p14"/>
          <p:cNvSpPr txBox="1"/>
          <p:nvPr/>
        </p:nvSpPr>
        <p:spPr>
          <a:xfrm>
            <a:off x="208250" y="1276750"/>
            <a:ext cx="3711000" cy="21612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Char char="●"/>
            </a:pPr>
            <a:r>
              <a:rPr lang="en" sz="1600">
                <a:solidFill>
                  <a:schemeClr val="dk1"/>
                </a:solidFill>
              </a:rPr>
              <a:t>RNNs/LSTMs → sequential, slow, hard to parallelize</a:t>
            </a:r>
            <a:br>
              <a:rPr lang="en" sz="1600">
                <a:solidFill>
                  <a:schemeClr val="dk1"/>
                </a:solidFill>
              </a:rPr>
            </a:br>
            <a:endParaRPr sz="16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600">
                <a:solidFill>
                  <a:schemeClr val="dk1"/>
                </a:solidFill>
              </a:rPr>
              <a:t>CNNs → better parallelization, but weak at long-range dependencies</a:t>
            </a:r>
            <a:br>
              <a:rPr lang="en" sz="1100">
                <a:solidFill>
                  <a:schemeClr val="dk1"/>
                </a:solidFill>
              </a:rPr>
            </a:br>
            <a:endParaRPr sz="1800">
              <a:solidFill>
                <a:schemeClr val="dk2"/>
              </a:solidFill>
            </a:endParaRPr>
          </a:p>
        </p:txBody>
      </p:sp>
      <p:sp>
        <p:nvSpPr>
          <p:cNvPr id="64" name="Google Shape;64;p14"/>
          <p:cNvSpPr txBox="1"/>
          <p:nvPr/>
        </p:nvSpPr>
        <p:spPr>
          <a:xfrm>
            <a:off x="208250" y="3696975"/>
            <a:ext cx="8390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600">
                <a:solidFill>
                  <a:schemeClr val="dk1"/>
                </a:solidFill>
              </a:rPr>
              <a:t>NOTE: </a:t>
            </a:r>
            <a:r>
              <a:rPr lang="en" sz="1600">
                <a:solidFill>
                  <a:schemeClr val="dk1"/>
                </a:solidFill>
              </a:rPr>
              <a:t>Transformers</a:t>
            </a:r>
            <a:r>
              <a:rPr lang="en" sz="1600">
                <a:solidFill>
                  <a:schemeClr val="dk1"/>
                </a:solidFill>
              </a:rPr>
              <a:t> key idea is to remove recurrence &amp; convolutions. Use only </a:t>
            </a:r>
            <a:r>
              <a:rPr b="1" lang="en" sz="1600">
                <a:solidFill>
                  <a:schemeClr val="dk1"/>
                </a:solidFill>
              </a:rPr>
              <a:t>attention</a:t>
            </a:r>
            <a:endParaRPr sz="23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 Architecture</a:t>
            </a:r>
            <a:endParaRPr/>
          </a:p>
        </p:txBody>
      </p:sp>
      <p:pic>
        <p:nvPicPr>
          <p:cNvPr id="70" name="Google Shape;70;p15"/>
          <p:cNvPicPr preferRelativeResize="0"/>
          <p:nvPr/>
        </p:nvPicPr>
        <p:blipFill>
          <a:blip r:embed="rId3">
            <a:alphaModFix/>
          </a:blip>
          <a:stretch>
            <a:fillRect/>
          </a:stretch>
        </p:blipFill>
        <p:spPr>
          <a:xfrm>
            <a:off x="5481550" y="799575"/>
            <a:ext cx="3350750" cy="4079200"/>
          </a:xfrm>
          <a:prstGeom prst="rect">
            <a:avLst/>
          </a:prstGeom>
          <a:noFill/>
          <a:ln>
            <a:noFill/>
          </a:ln>
        </p:spPr>
      </p:pic>
      <p:sp>
        <p:nvSpPr>
          <p:cNvPr id="71" name="Google Shape;71;p15"/>
          <p:cNvSpPr/>
          <p:nvPr/>
        </p:nvSpPr>
        <p:spPr>
          <a:xfrm>
            <a:off x="927600" y="1964650"/>
            <a:ext cx="1156800" cy="8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Encoder</a:t>
            </a:r>
            <a:endParaRPr/>
          </a:p>
        </p:txBody>
      </p:sp>
      <p:sp>
        <p:nvSpPr>
          <p:cNvPr id="72" name="Google Shape;72;p15"/>
          <p:cNvSpPr/>
          <p:nvPr/>
        </p:nvSpPr>
        <p:spPr>
          <a:xfrm>
            <a:off x="3894075" y="1964650"/>
            <a:ext cx="1156800" cy="8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Decoder</a:t>
            </a:r>
            <a:endParaRPr/>
          </a:p>
        </p:txBody>
      </p:sp>
      <p:cxnSp>
        <p:nvCxnSpPr>
          <p:cNvPr id="73" name="Google Shape;73;p15"/>
          <p:cNvCxnSpPr>
            <a:stCxn id="71" idx="3"/>
            <a:endCxn id="72" idx="1"/>
          </p:cNvCxnSpPr>
          <p:nvPr/>
        </p:nvCxnSpPr>
        <p:spPr>
          <a:xfrm>
            <a:off x="2084400" y="2371150"/>
            <a:ext cx="1809600" cy="0"/>
          </a:xfrm>
          <a:prstGeom prst="straightConnector1">
            <a:avLst/>
          </a:prstGeom>
          <a:noFill/>
          <a:ln cap="flat" cmpd="sng" w="9525">
            <a:solidFill>
              <a:schemeClr val="dk2"/>
            </a:solidFill>
            <a:prstDash val="solid"/>
            <a:round/>
            <a:headEnd len="med" w="med" type="none"/>
            <a:tailEnd len="med" w="med" type="triangle"/>
          </a:ln>
        </p:spPr>
      </p:cxnSp>
      <p:cxnSp>
        <p:nvCxnSpPr>
          <p:cNvPr id="74" name="Google Shape;74;p15"/>
          <p:cNvCxnSpPr/>
          <p:nvPr/>
        </p:nvCxnSpPr>
        <p:spPr>
          <a:xfrm>
            <a:off x="302250" y="2371125"/>
            <a:ext cx="681900" cy="23400"/>
          </a:xfrm>
          <a:prstGeom prst="straightConnector1">
            <a:avLst/>
          </a:prstGeom>
          <a:noFill/>
          <a:ln cap="flat" cmpd="sng" w="9525">
            <a:solidFill>
              <a:schemeClr val="dk2"/>
            </a:solidFill>
            <a:prstDash val="solid"/>
            <a:round/>
            <a:headEnd len="med" w="med" type="none"/>
            <a:tailEnd len="med" w="med" type="triangle"/>
          </a:ln>
        </p:spPr>
      </p:cxnSp>
      <p:sp>
        <p:nvSpPr>
          <p:cNvPr id="75" name="Google Shape;75;p15"/>
          <p:cNvSpPr txBox="1"/>
          <p:nvPr/>
        </p:nvSpPr>
        <p:spPr>
          <a:xfrm>
            <a:off x="208450" y="1839575"/>
            <a:ext cx="56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cxnSp>
        <p:nvCxnSpPr>
          <p:cNvPr id="76" name="Google Shape;76;p15"/>
          <p:cNvCxnSpPr/>
          <p:nvPr/>
        </p:nvCxnSpPr>
        <p:spPr>
          <a:xfrm>
            <a:off x="5050875" y="2371125"/>
            <a:ext cx="681900" cy="23400"/>
          </a:xfrm>
          <a:prstGeom prst="straightConnector1">
            <a:avLst/>
          </a:prstGeom>
          <a:noFill/>
          <a:ln cap="flat" cmpd="sng" w="9525">
            <a:solidFill>
              <a:schemeClr val="dk2"/>
            </a:solidFill>
            <a:prstDash val="solid"/>
            <a:round/>
            <a:headEnd len="med" w="med" type="none"/>
            <a:tailEnd len="med" w="med" type="triangle"/>
          </a:ln>
        </p:spPr>
      </p:cxnSp>
      <p:sp>
        <p:nvSpPr>
          <p:cNvPr id="77" name="Google Shape;77;p15"/>
          <p:cNvSpPr txBox="1"/>
          <p:nvPr/>
        </p:nvSpPr>
        <p:spPr>
          <a:xfrm>
            <a:off x="958875" y="3262250"/>
            <a:ext cx="161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 =6 layers</a:t>
            </a:r>
            <a:endParaRPr sz="1800">
              <a:solidFill>
                <a:schemeClr val="dk2"/>
              </a:solidFill>
            </a:endParaRPr>
          </a:p>
        </p:txBody>
      </p:sp>
      <p:sp>
        <p:nvSpPr>
          <p:cNvPr id="78" name="Google Shape;78;p15"/>
          <p:cNvSpPr txBox="1"/>
          <p:nvPr/>
        </p:nvSpPr>
        <p:spPr>
          <a:xfrm>
            <a:off x="3854925" y="3262250"/>
            <a:ext cx="161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 =6 layers</a:t>
            </a:r>
            <a:endParaRPr sz="1800">
              <a:solidFill>
                <a:schemeClr val="dk2"/>
              </a:solidFill>
            </a:endParaRPr>
          </a:p>
        </p:txBody>
      </p:sp>
      <p:sp>
        <p:nvSpPr>
          <p:cNvPr id="79" name="Google Shape;79;p15"/>
          <p:cNvSpPr txBox="1"/>
          <p:nvPr/>
        </p:nvSpPr>
        <p:spPr>
          <a:xfrm>
            <a:off x="677450" y="1308025"/>
            <a:ext cx="415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Encoder and Decoder Stacks</a:t>
            </a:r>
            <a:endParaRPr sz="1800">
              <a:solidFill>
                <a:schemeClr val="dk2"/>
              </a:solidFill>
            </a:endParaRPr>
          </a:p>
        </p:txBody>
      </p:sp>
      <p:pic>
        <p:nvPicPr>
          <p:cNvPr id="80" name="Google Shape;80;p15"/>
          <p:cNvPicPr preferRelativeResize="0"/>
          <p:nvPr/>
        </p:nvPicPr>
        <p:blipFill>
          <a:blip r:embed="rId4">
            <a:alphaModFix/>
          </a:blip>
          <a:stretch>
            <a:fillRect/>
          </a:stretch>
        </p:blipFill>
        <p:spPr>
          <a:xfrm>
            <a:off x="1872125" y="4063975"/>
            <a:ext cx="2381250" cy="266700"/>
          </a:xfrm>
          <a:prstGeom prst="rect">
            <a:avLst/>
          </a:prstGeom>
          <a:noFill/>
          <a:ln>
            <a:noFill/>
          </a:ln>
        </p:spPr>
      </p:pic>
      <p:pic>
        <p:nvPicPr>
          <p:cNvPr id="81" name="Google Shape;81;p15"/>
          <p:cNvPicPr preferRelativeResize="0"/>
          <p:nvPr/>
        </p:nvPicPr>
        <p:blipFill>
          <a:blip r:embed="rId5">
            <a:alphaModFix/>
          </a:blip>
          <a:stretch>
            <a:fillRect/>
          </a:stretch>
        </p:blipFill>
        <p:spPr>
          <a:xfrm>
            <a:off x="2576975" y="4514350"/>
            <a:ext cx="971550" cy="209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Input Embedding?</a:t>
            </a:r>
            <a:endParaRPr/>
          </a:p>
        </p:txBody>
      </p:sp>
      <p:pic>
        <p:nvPicPr>
          <p:cNvPr id="87" name="Google Shape;87;p16"/>
          <p:cNvPicPr preferRelativeResize="0"/>
          <p:nvPr/>
        </p:nvPicPr>
        <p:blipFill>
          <a:blip r:embed="rId3">
            <a:alphaModFix/>
          </a:blip>
          <a:stretch>
            <a:fillRect/>
          </a:stretch>
        </p:blipFill>
        <p:spPr>
          <a:xfrm>
            <a:off x="152400" y="1686025"/>
            <a:ext cx="8839198" cy="267637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Positional Embedding?</a:t>
            </a:r>
            <a:endParaRPr/>
          </a:p>
        </p:txBody>
      </p:sp>
      <p:pic>
        <p:nvPicPr>
          <p:cNvPr id="93" name="Google Shape;93;p17"/>
          <p:cNvPicPr preferRelativeResize="0"/>
          <p:nvPr/>
        </p:nvPicPr>
        <p:blipFill>
          <a:blip r:embed="rId3">
            <a:alphaModFix/>
          </a:blip>
          <a:stretch>
            <a:fillRect/>
          </a:stretch>
        </p:blipFill>
        <p:spPr>
          <a:xfrm>
            <a:off x="152400" y="1170125"/>
            <a:ext cx="8839200" cy="34782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Positional Embedding Vector Generated?</a:t>
            </a:r>
            <a:endParaRPr/>
          </a:p>
        </p:txBody>
      </p:sp>
      <p:pic>
        <p:nvPicPr>
          <p:cNvPr id="99" name="Google Shape;99;p18"/>
          <p:cNvPicPr preferRelativeResize="0"/>
          <p:nvPr/>
        </p:nvPicPr>
        <p:blipFill>
          <a:blip r:embed="rId3">
            <a:alphaModFix/>
          </a:blip>
          <a:stretch>
            <a:fillRect/>
          </a:stretch>
        </p:blipFill>
        <p:spPr>
          <a:xfrm>
            <a:off x="152400" y="1170125"/>
            <a:ext cx="8839200" cy="37133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Encoder </a:t>
            </a:r>
            <a:endParaRPr/>
          </a:p>
        </p:txBody>
      </p:sp>
      <p:pic>
        <p:nvPicPr>
          <p:cNvPr id="105" name="Google Shape;105;p19"/>
          <p:cNvPicPr preferRelativeResize="0"/>
          <p:nvPr/>
        </p:nvPicPr>
        <p:blipFill>
          <a:blip r:embed="rId3">
            <a:alphaModFix/>
          </a:blip>
          <a:stretch>
            <a:fillRect/>
          </a:stretch>
        </p:blipFill>
        <p:spPr>
          <a:xfrm>
            <a:off x="3286225" y="1017713"/>
            <a:ext cx="2352675" cy="3914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Self Attention?</a:t>
            </a:r>
            <a:endParaRPr/>
          </a:p>
        </p:txBody>
      </p:sp>
      <p:pic>
        <p:nvPicPr>
          <p:cNvPr id="111" name="Google Shape;111;p20"/>
          <p:cNvPicPr preferRelativeResize="0"/>
          <p:nvPr/>
        </p:nvPicPr>
        <p:blipFill>
          <a:blip r:embed="rId3">
            <a:alphaModFix/>
          </a:blip>
          <a:stretch>
            <a:fillRect/>
          </a:stretch>
        </p:blipFill>
        <p:spPr>
          <a:xfrm>
            <a:off x="0" y="1280655"/>
            <a:ext cx="9143999" cy="38628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Multi-head Attention?</a:t>
            </a:r>
            <a:endParaRPr/>
          </a:p>
        </p:txBody>
      </p:sp>
      <p:pic>
        <p:nvPicPr>
          <p:cNvPr id="117" name="Google Shape;117;p21"/>
          <p:cNvPicPr preferRelativeResize="0"/>
          <p:nvPr/>
        </p:nvPicPr>
        <p:blipFill>
          <a:blip r:embed="rId3">
            <a:alphaModFix/>
          </a:blip>
          <a:stretch>
            <a:fillRect/>
          </a:stretch>
        </p:blipFill>
        <p:spPr>
          <a:xfrm>
            <a:off x="1090425" y="1154500"/>
            <a:ext cx="6618967"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Masked Multi-Head Attention?</a:t>
            </a:r>
            <a:endParaRPr/>
          </a:p>
        </p:txBody>
      </p:sp>
      <p:pic>
        <p:nvPicPr>
          <p:cNvPr id="123" name="Google Shape;123;p22"/>
          <p:cNvPicPr preferRelativeResize="0"/>
          <p:nvPr/>
        </p:nvPicPr>
        <p:blipFill>
          <a:blip r:embed="rId3">
            <a:alphaModFix/>
          </a:blip>
          <a:stretch>
            <a:fillRect/>
          </a:stretch>
        </p:blipFill>
        <p:spPr>
          <a:xfrm>
            <a:off x="4873800" y="1498475"/>
            <a:ext cx="3438525" cy="3495675"/>
          </a:xfrm>
          <a:prstGeom prst="rect">
            <a:avLst/>
          </a:prstGeom>
          <a:noFill/>
          <a:ln>
            <a:noFill/>
          </a:ln>
        </p:spPr>
      </p:pic>
      <p:sp>
        <p:nvSpPr>
          <p:cNvPr id="124" name="Google Shape;124;p22"/>
          <p:cNvSpPr txBox="1"/>
          <p:nvPr/>
        </p:nvSpPr>
        <p:spPr>
          <a:xfrm>
            <a:off x="943225" y="1636325"/>
            <a:ext cx="37053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If we do not want some position to interact, we can always set the value to negative infinity before applying softmax the model will not learn those interactions.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Our goal is to make the model casual: it means that output at certain position can only depend on the words of the previous position. The model must not be able see the future words</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 Forward Network</a:t>
            </a:r>
            <a:endParaRPr/>
          </a:p>
        </p:txBody>
      </p:sp>
      <p:sp>
        <p:nvSpPr>
          <p:cNvPr id="130" name="Google Shape;13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 is </a:t>
            </a:r>
            <a:r>
              <a:rPr lang="en"/>
              <a:t>consist of two linear transformations with a ReLU activation in between.</a:t>
            </a:r>
            <a:endParaRPr/>
          </a:p>
          <a:p>
            <a:pPr indent="0" lvl="0" marL="0" rtl="0" algn="l">
              <a:spcBef>
                <a:spcPts val="1200"/>
              </a:spcBef>
              <a:spcAft>
                <a:spcPts val="0"/>
              </a:spcAft>
              <a:buNone/>
            </a:pPr>
            <a:r>
              <a:rPr lang="en"/>
              <a:t>Another way to define is two convolutions with kernel size 1</a:t>
            </a:r>
            <a:endParaRPr/>
          </a:p>
          <a:p>
            <a:pPr indent="0" lvl="0" marL="0" rtl="0" algn="l">
              <a:spcBef>
                <a:spcPts val="1200"/>
              </a:spcBef>
              <a:spcAft>
                <a:spcPts val="1200"/>
              </a:spcAft>
              <a:buNone/>
            </a:pPr>
            <a:r>
              <a:t/>
            </a:r>
            <a:endParaRPr/>
          </a:p>
        </p:txBody>
      </p:sp>
      <p:pic>
        <p:nvPicPr>
          <p:cNvPr id="131" name="Google Shape;131;p23"/>
          <p:cNvPicPr preferRelativeResize="0"/>
          <p:nvPr/>
        </p:nvPicPr>
        <p:blipFill>
          <a:blip r:embed="rId3">
            <a:alphaModFix/>
          </a:blip>
          <a:stretch>
            <a:fillRect/>
          </a:stretch>
        </p:blipFill>
        <p:spPr>
          <a:xfrm>
            <a:off x="427325" y="2329125"/>
            <a:ext cx="3594800" cy="485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a:t>
            </a:r>
            <a:endParaRPr/>
          </a:p>
        </p:txBody>
      </p:sp>
      <p:pic>
        <p:nvPicPr>
          <p:cNvPr id="137" name="Google Shape;137;p24"/>
          <p:cNvPicPr preferRelativeResize="0"/>
          <p:nvPr/>
        </p:nvPicPr>
        <p:blipFill>
          <a:blip r:embed="rId3">
            <a:alphaModFix/>
          </a:blip>
          <a:stretch>
            <a:fillRect/>
          </a:stretch>
        </p:blipFill>
        <p:spPr>
          <a:xfrm>
            <a:off x="2075375" y="1017725"/>
            <a:ext cx="3873952"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a:t>
            </a:r>
            <a:endParaRPr/>
          </a:p>
        </p:txBody>
      </p:sp>
      <p:pic>
        <p:nvPicPr>
          <p:cNvPr id="143" name="Google Shape;143;p25"/>
          <p:cNvPicPr preferRelativeResize="0"/>
          <p:nvPr/>
        </p:nvPicPr>
        <p:blipFill>
          <a:blip r:embed="rId3">
            <a:alphaModFix/>
          </a:blip>
          <a:stretch>
            <a:fillRect/>
          </a:stretch>
        </p:blipFill>
        <p:spPr>
          <a:xfrm>
            <a:off x="200022" y="1669272"/>
            <a:ext cx="3436100" cy="1983800"/>
          </a:xfrm>
          <a:prstGeom prst="rect">
            <a:avLst/>
          </a:prstGeom>
          <a:noFill/>
          <a:ln>
            <a:noFill/>
          </a:ln>
        </p:spPr>
      </p:pic>
      <p:pic>
        <p:nvPicPr>
          <p:cNvPr id="144" name="Google Shape;144;p25"/>
          <p:cNvPicPr preferRelativeResize="0"/>
          <p:nvPr/>
        </p:nvPicPr>
        <p:blipFill>
          <a:blip r:embed="rId4">
            <a:alphaModFix/>
          </a:blip>
          <a:stretch>
            <a:fillRect/>
          </a:stretch>
        </p:blipFill>
        <p:spPr>
          <a:xfrm>
            <a:off x="3517188" y="1433975"/>
            <a:ext cx="1781175" cy="2686050"/>
          </a:xfrm>
          <a:prstGeom prst="rect">
            <a:avLst/>
          </a:prstGeom>
          <a:noFill/>
          <a:ln>
            <a:noFill/>
          </a:ln>
        </p:spPr>
      </p:pic>
      <p:pic>
        <p:nvPicPr>
          <p:cNvPr id="145" name="Google Shape;145;p25"/>
          <p:cNvPicPr preferRelativeResize="0"/>
          <p:nvPr/>
        </p:nvPicPr>
        <p:blipFill>
          <a:blip r:embed="rId5">
            <a:alphaModFix/>
          </a:blip>
          <a:stretch>
            <a:fillRect/>
          </a:stretch>
        </p:blipFill>
        <p:spPr>
          <a:xfrm>
            <a:off x="5204575" y="1933863"/>
            <a:ext cx="3349100" cy="16862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Word Embedding</a:t>
            </a:r>
            <a:endParaRPr/>
          </a:p>
        </p:txBody>
      </p:sp>
      <p:pic>
        <p:nvPicPr>
          <p:cNvPr id="151" name="Google Shape;151;p26"/>
          <p:cNvPicPr preferRelativeResize="0"/>
          <p:nvPr/>
        </p:nvPicPr>
        <p:blipFill>
          <a:blip r:embed="rId3">
            <a:alphaModFix/>
          </a:blip>
          <a:stretch>
            <a:fillRect/>
          </a:stretch>
        </p:blipFill>
        <p:spPr>
          <a:xfrm>
            <a:off x="2162175" y="1490663"/>
            <a:ext cx="5124450" cy="2466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Layering means? How it works</a:t>
            </a:r>
            <a:endParaRPr/>
          </a:p>
        </p:txBody>
      </p:sp>
      <p:pic>
        <p:nvPicPr>
          <p:cNvPr id="157" name="Google Shape;157;p27"/>
          <p:cNvPicPr preferRelativeResize="0"/>
          <p:nvPr/>
        </p:nvPicPr>
        <p:blipFill>
          <a:blip r:embed="rId3">
            <a:alphaModFix/>
          </a:blip>
          <a:stretch>
            <a:fillRect/>
          </a:stretch>
        </p:blipFill>
        <p:spPr>
          <a:xfrm>
            <a:off x="1950275" y="1201375"/>
            <a:ext cx="5029200" cy="3400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