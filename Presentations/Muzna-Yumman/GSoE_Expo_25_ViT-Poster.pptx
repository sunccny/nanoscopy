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9" r:id="rId1"/>
  </p:sldMasterIdLst>
  <p:notesMasterIdLst>
    <p:notesMasterId r:id="rId3"/>
  </p:notesMasterIdLst>
  <p:sldIdLst>
    <p:sldId id="256" r:id="rId2"/>
  </p:sldIdLst>
  <p:sldSz cx="36576000" cy="27432000"/>
  <p:notesSz cx="6858000" cy="9144000"/>
  <p:embeddedFontLst>
    <p:embeddedFont>
      <p:font typeface="Cambria" panose="02040503050406030204" pitchFamily="18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641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11" autoAdjust="0"/>
    <p:restoredTop sz="92802" autoAdjust="0"/>
  </p:normalViewPr>
  <p:slideViewPr>
    <p:cSldViewPr snapToGrid="0">
      <p:cViewPr>
        <p:scale>
          <a:sx n="16" d="100"/>
          <a:sy n="16" d="100"/>
        </p:scale>
        <p:origin x="2904" y="888"/>
      </p:cViewPr>
      <p:guideLst>
        <p:guide orient="horz" pos="8641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4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7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7F7F7F"/>
                </a:solidFill>
              </a:rPr>
              <a:t> </a:t>
            </a:r>
            <a:endParaRPr sz="1200" dirty="0">
              <a:solidFill>
                <a:srgbClr val="7F7F7F"/>
              </a:solidFill>
            </a:endParaRPr>
          </a:p>
        </p:txBody>
      </p:sp>
      <p:sp>
        <p:nvSpPr>
          <p:cNvPr id="42" name="Google Shape;4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ster">
  <p:cSld name="Po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5334004" y="825501"/>
            <a:ext cx="25907999" cy="20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5334004" y="2990505"/>
            <a:ext cx="25907999" cy="69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8754" lvl="0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7">
                <a:solidFill>
                  <a:schemeClr val="lt1"/>
                </a:solidFill>
              </a:defRPr>
            </a:lvl1pPr>
            <a:lvl2pPr marL="917509" lvl="1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7">
                <a:solidFill>
                  <a:schemeClr val="lt1"/>
                </a:solidFill>
              </a:defRPr>
            </a:lvl2pPr>
            <a:lvl3pPr marL="1376263" lvl="2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7">
                <a:solidFill>
                  <a:schemeClr val="lt1"/>
                </a:solidFill>
              </a:defRPr>
            </a:lvl3pPr>
            <a:lvl4pPr marL="1835018" lvl="3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7">
                <a:solidFill>
                  <a:schemeClr val="lt1"/>
                </a:solidFill>
              </a:defRPr>
            </a:lvl4pPr>
            <a:lvl5pPr marL="2293772" lvl="4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7">
                <a:solidFill>
                  <a:schemeClr val="lt1"/>
                </a:solidFill>
              </a:defRPr>
            </a:lvl5pPr>
            <a:lvl6pPr marL="2752527" lvl="5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7">
                <a:solidFill>
                  <a:schemeClr val="lt1"/>
                </a:solidFill>
              </a:defRPr>
            </a:lvl6pPr>
            <a:lvl7pPr marL="3211281" lvl="6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7">
                <a:solidFill>
                  <a:schemeClr val="lt1"/>
                </a:solidFill>
              </a:defRPr>
            </a:lvl7pPr>
            <a:lvl8pPr marL="3670036" lvl="7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7">
                <a:solidFill>
                  <a:schemeClr val="lt1"/>
                </a:solidFill>
              </a:defRPr>
            </a:lvl8pPr>
            <a:lvl9pPr marL="4128790" lvl="8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952500" y="26762248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9182100" y="26762248"/>
            <a:ext cx="18211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27393900" y="26762248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Google Shape;22;p2"/>
          <p:cNvSpPr>
            <a:spLocks noGrp="1"/>
          </p:cNvSpPr>
          <p:nvPr>
            <p:ph type="body" idx="2"/>
          </p:nvPr>
        </p:nvSpPr>
        <p:spPr>
          <a:xfrm>
            <a:off x="952500" y="4876801"/>
            <a:ext cx="10668000" cy="1016000"/>
          </a:xfrm>
          <a:prstGeom prst="round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365750" tIns="45700" rIns="91425" bIns="45700" anchor="ctr" anchorCtr="0"/>
          <a:lstStyle>
            <a:lvl1pPr marL="458754" lvl="0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7509" lvl="1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6263" lvl="2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35018" lvl="3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93772" lvl="4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52527" lvl="5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11281" lvl="6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70036" lvl="7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28790" lvl="8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3"/>
          </p:nvPr>
        </p:nvSpPr>
        <p:spPr>
          <a:xfrm>
            <a:off x="952500" y="5892801"/>
            <a:ext cx="106680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91425" bIns="45700" anchor="t" anchorCtr="0"/>
          <a:lstStyle>
            <a:lvl1pPr marL="458754" lvl="0" indent="-37802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333"/>
              <a:buChar char="•"/>
              <a:defRPr/>
            </a:lvl1pPr>
            <a:lvl2pPr marL="917509" lvl="1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2pPr>
            <a:lvl3pPr marL="1376263" lvl="2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3pPr>
            <a:lvl4pPr marL="1835018" lvl="3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4pPr>
            <a:lvl5pPr marL="2293772" lvl="4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5pPr>
            <a:lvl6pPr marL="2752527" lvl="5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6pPr>
            <a:lvl7pPr marL="3211281" lvl="6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7pPr>
            <a:lvl8pPr marL="3670036" lvl="7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8pPr>
            <a:lvl9pPr marL="4128790" lvl="8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>
            <a:spLocks noGrp="1"/>
          </p:cNvSpPr>
          <p:nvPr>
            <p:ph type="body" idx="4"/>
          </p:nvPr>
        </p:nvSpPr>
        <p:spPr>
          <a:xfrm>
            <a:off x="952500" y="12527282"/>
            <a:ext cx="10668000" cy="1016000"/>
          </a:xfrm>
          <a:prstGeom prst="round1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365750" tIns="45700" rIns="91425" bIns="45700" anchor="ctr" anchorCtr="0"/>
          <a:lstStyle>
            <a:lvl1pPr marL="458754" lvl="0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7509" lvl="1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6263" lvl="2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35018" lvl="3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93772" lvl="4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52527" lvl="5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11281" lvl="6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70036" lvl="7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28790" lvl="8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5"/>
          </p:nvPr>
        </p:nvSpPr>
        <p:spPr>
          <a:xfrm>
            <a:off x="952500" y="13543282"/>
            <a:ext cx="10668000" cy="7573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91425" bIns="45700" anchor="t" anchorCtr="0"/>
          <a:lstStyle>
            <a:lvl1pPr marL="458754" lvl="0" indent="-37802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333"/>
              <a:buChar char="•"/>
              <a:defRPr/>
            </a:lvl1pPr>
            <a:lvl2pPr marL="917509" lvl="1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2pPr>
            <a:lvl3pPr marL="1376263" lvl="2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3pPr>
            <a:lvl4pPr marL="1835018" lvl="3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4pPr>
            <a:lvl5pPr marL="2293772" lvl="4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5pPr>
            <a:lvl6pPr marL="2752527" lvl="5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6pPr>
            <a:lvl7pPr marL="3211281" lvl="6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7pPr>
            <a:lvl8pPr marL="3670036" lvl="7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8pPr>
            <a:lvl9pPr marL="4128790" lvl="8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>
            <a:spLocks noGrp="1"/>
          </p:cNvSpPr>
          <p:nvPr>
            <p:ph type="body" idx="6"/>
          </p:nvPr>
        </p:nvSpPr>
        <p:spPr>
          <a:xfrm>
            <a:off x="952500" y="21526501"/>
            <a:ext cx="10668000" cy="1016000"/>
          </a:xfrm>
          <a:prstGeom prst="round1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5750" tIns="45700" rIns="91425" bIns="45700" anchor="ctr" anchorCtr="0"/>
          <a:lstStyle>
            <a:lvl1pPr marL="458754" lvl="0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7509" lvl="1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6263" lvl="2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35018" lvl="3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93772" lvl="4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52527" lvl="5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11281" lvl="6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70036" lvl="7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28790" lvl="8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body" idx="7"/>
          </p:nvPr>
        </p:nvSpPr>
        <p:spPr>
          <a:xfrm>
            <a:off x="952500" y="22547581"/>
            <a:ext cx="1066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91425" bIns="45700" anchor="t" anchorCtr="0"/>
          <a:lstStyle>
            <a:lvl1pPr marL="458754" lvl="0" indent="-37802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333"/>
              <a:buChar char="•"/>
              <a:defRPr/>
            </a:lvl1pPr>
            <a:lvl2pPr marL="917509" lvl="1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2pPr>
            <a:lvl3pPr marL="1376263" lvl="2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3pPr>
            <a:lvl4pPr marL="1835018" lvl="3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4pPr>
            <a:lvl5pPr marL="2293772" lvl="4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5pPr>
            <a:lvl6pPr marL="2752527" lvl="5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6pPr>
            <a:lvl7pPr marL="3211281" lvl="6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7pPr>
            <a:lvl8pPr marL="3670036" lvl="7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8pPr>
            <a:lvl9pPr marL="4128790" lvl="8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>
            <a:spLocks noGrp="1"/>
          </p:cNvSpPr>
          <p:nvPr>
            <p:ph type="body" idx="8"/>
          </p:nvPr>
        </p:nvSpPr>
        <p:spPr>
          <a:xfrm>
            <a:off x="12954000" y="4876801"/>
            <a:ext cx="10668000" cy="1016000"/>
          </a:xfrm>
          <a:prstGeom prst="round1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365750" tIns="45700" rIns="91425" bIns="45700" anchor="ctr" anchorCtr="0"/>
          <a:lstStyle>
            <a:lvl1pPr marL="458754" lvl="0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7509" lvl="1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6263" lvl="2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35018" lvl="3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93772" lvl="4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52527" lvl="5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11281" lvl="6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70036" lvl="7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28790" lvl="8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body" idx="9"/>
          </p:nvPr>
        </p:nvSpPr>
        <p:spPr>
          <a:xfrm>
            <a:off x="12954000" y="5892800"/>
            <a:ext cx="1066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91425" bIns="45700" anchor="t" anchorCtr="0"/>
          <a:lstStyle>
            <a:lvl1pPr marL="458754" lvl="0" indent="-37802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333"/>
              <a:buChar char="•"/>
              <a:defRPr/>
            </a:lvl1pPr>
            <a:lvl2pPr marL="917509" lvl="1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2pPr>
            <a:lvl3pPr marL="1376263" lvl="2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3pPr>
            <a:lvl4pPr marL="1835018" lvl="3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4pPr>
            <a:lvl5pPr marL="2293772" lvl="4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5pPr>
            <a:lvl6pPr marL="2752527" lvl="5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6pPr>
            <a:lvl7pPr marL="3211281" lvl="6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7pPr>
            <a:lvl8pPr marL="3670036" lvl="7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8pPr>
            <a:lvl9pPr marL="4128790" lvl="8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body" idx="13"/>
          </p:nvPr>
        </p:nvSpPr>
        <p:spPr>
          <a:xfrm>
            <a:off x="12954000" y="9956801"/>
            <a:ext cx="10668000" cy="514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91425" bIns="45700" anchor="t" anchorCtr="0"/>
          <a:lstStyle>
            <a:lvl1pPr marL="458754" lvl="0" indent="-37802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333"/>
              <a:buChar char="•"/>
              <a:defRPr/>
            </a:lvl1pPr>
            <a:lvl2pPr marL="917509" lvl="1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2pPr>
            <a:lvl3pPr marL="1376263" lvl="2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3pPr>
            <a:lvl4pPr marL="1835018" lvl="3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4pPr>
            <a:lvl5pPr marL="2293772" lvl="4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5pPr>
            <a:lvl6pPr marL="2752527" lvl="5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6pPr>
            <a:lvl7pPr marL="3211281" lvl="6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7pPr>
            <a:lvl8pPr marL="3670036" lvl="7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8pPr>
            <a:lvl9pPr marL="4128790" lvl="8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body" idx="14"/>
          </p:nvPr>
        </p:nvSpPr>
        <p:spPr>
          <a:xfrm>
            <a:off x="12954000" y="19558002"/>
            <a:ext cx="10668000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45700" anchor="t" anchorCtr="0"/>
          <a:lstStyle>
            <a:lvl1pPr marL="458754" lvl="0" indent="-37802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333"/>
              <a:buChar char="•"/>
              <a:defRPr/>
            </a:lvl1pPr>
            <a:lvl2pPr marL="917509" lvl="1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2pPr>
            <a:lvl3pPr marL="1376263" lvl="2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3pPr>
            <a:lvl4pPr marL="1835018" lvl="3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4pPr>
            <a:lvl5pPr marL="2293772" lvl="4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5pPr>
            <a:lvl6pPr marL="2752527" lvl="5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6pPr>
            <a:lvl7pPr marL="3211281" lvl="6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7pPr>
            <a:lvl8pPr marL="3670036" lvl="7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8pPr>
            <a:lvl9pPr marL="4128790" lvl="8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>
            <a:spLocks noGrp="1"/>
          </p:cNvSpPr>
          <p:nvPr>
            <p:ph type="body" idx="15"/>
          </p:nvPr>
        </p:nvSpPr>
        <p:spPr>
          <a:xfrm>
            <a:off x="12954000" y="21526501"/>
            <a:ext cx="10668000" cy="1016000"/>
          </a:xfrm>
          <a:prstGeom prst="round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365750" tIns="45700" rIns="91425" bIns="45700" anchor="ctr" anchorCtr="0"/>
          <a:lstStyle>
            <a:lvl1pPr marL="458754" lvl="0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7509" lvl="1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6263" lvl="2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35018" lvl="3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93772" lvl="4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52527" lvl="5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11281" lvl="6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70036" lvl="7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28790" lvl="8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body" idx="16"/>
          </p:nvPr>
        </p:nvSpPr>
        <p:spPr>
          <a:xfrm>
            <a:off x="12954000" y="22547581"/>
            <a:ext cx="1066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91425" bIns="45700" anchor="t" anchorCtr="0"/>
          <a:lstStyle>
            <a:lvl1pPr marL="458754" lvl="0" indent="-37802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333"/>
              <a:buChar char="•"/>
              <a:defRPr/>
            </a:lvl1pPr>
            <a:lvl2pPr marL="917509" lvl="1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2pPr>
            <a:lvl3pPr marL="1376263" lvl="2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3pPr>
            <a:lvl4pPr marL="1835018" lvl="3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4pPr>
            <a:lvl5pPr marL="2293772" lvl="4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5pPr>
            <a:lvl6pPr marL="2752527" lvl="5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6pPr>
            <a:lvl7pPr marL="3211281" lvl="6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7pPr>
            <a:lvl8pPr marL="3670036" lvl="7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8pPr>
            <a:lvl9pPr marL="4128790" lvl="8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"/>
          <p:cNvSpPr>
            <a:spLocks noGrp="1"/>
          </p:cNvSpPr>
          <p:nvPr>
            <p:ph type="body" idx="17"/>
          </p:nvPr>
        </p:nvSpPr>
        <p:spPr>
          <a:xfrm>
            <a:off x="24917400" y="4876801"/>
            <a:ext cx="10668000" cy="1016000"/>
          </a:xfrm>
          <a:prstGeom prst="round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365750" tIns="45700" rIns="91425" bIns="45700" anchor="ctr" anchorCtr="0"/>
          <a:lstStyle>
            <a:lvl1pPr marL="458754" lvl="0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7509" lvl="1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6263" lvl="2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35018" lvl="3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93772" lvl="4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52527" lvl="5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11281" lvl="6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70036" lvl="7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28790" lvl="8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body" idx="18"/>
          </p:nvPr>
        </p:nvSpPr>
        <p:spPr>
          <a:xfrm>
            <a:off x="24917400" y="5892802"/>
            <a:ext cx="106680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91425" bIns="45700" anchor="t" anchorCtr="0"/>
          <a:lstStyle>
            <a:lvl1pPr marL="458754" lvl="0" indent="-37802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333"/>
              <a:buChar char="•"/>
              <a:defRPr/>
            </a:lvl1pPr>
            <a:lvl2pPr marL="917509" lvl="1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2pPr>
            <a:lvl3pPr marL="1376263" lvl="2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3pPr>
            <a:lvl4pPr marL="1835018" lvl="3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4pPr>
            <a:lvl5pPr marL="2293772" lvl="4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5pPr>
            <a:lvl6pPr marL="2752527" lvl="5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6pPr>
            <a:lvl7pPr marL="3211281" lvl="6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7pPr>
            <a:lvl8pPr marL="3670036" lvl="7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8pPr>
            <a:lvl9pPr marL="4128790" lvl="8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body" idx="19"/>
          </p:nvPr>
        </p:nvSpPr>
        <p:spPr>
          <a:xfrm>
            <a:off x="24917400" y="13197842"/>
            <a:ext cx="106680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91425" bIns="45700" anchor="t" anchorCtr="0"/>
          <a:lstStyle>
            <a:lvl1pPr marL="458754" lvl="0" indent="-37802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333"/>
              <a:buChar char="•"/>
              <a:defRPr/>
            </a:lvl1pPr>
            <a:lvl2pPr marL="917509" lvl="1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2pPr>
            <a:lvl3pPr marL="1376263" lvl="2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3pPr>
            <a:lvl4pPr marL="1835018" lvl="3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4pPr>
            <a:lvl5pPr marL="2293772" lvl="4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5pPr>
            <a:lvl6pPr marL="2752527" lvl="5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6pPr>
            <a:lvl7pPr marL="3211281" lvl="6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7pPr>
            <a:lvl8pPr marL="3670036" lvl="7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8pPr>
            <a:lvl9pPr marL="4128790" lvl="8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"/>
          <p:cNvSpPr>
            <a:spLocks noGrp="1"/>
          </p:cNvSpPr>
          <p:nvPr>
            <p:ph type="body" idx="20"/>
          </p:nvPr>
        </p:nvSpPr>
        <p:spPr>
          <a:xfrm>
            <a:off x="24917400" y="21526501"/>
            <a:ext cx="10668000" cy="1016000"/>
          </a:xfrm>
          <a:prstGeom prst="round1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365750" tIns="45700" rIns="91425" bIns="45700" anchor="ctr" anchorCtr="0"/>
          <a:lstStyle>
            <a:lvl1pPr marL="458754" lvl="0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7509" lvl="1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6263" lvl="2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35018" lvl="3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93772" lvl="4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52527" lvl="5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11281" lvl="6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70036" lvl="7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28790" lvl="8" indent="-2293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17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body" idx="21"/>
          </p:nvPr>
        </p:nvSpPr>
        <p:spPr>
          <a:xfrm>
            <a:off x="24917400" y="22547581"/>
            <a:ext cx="1066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182875" rIns="91425" bIns="45700" anchor="t" anchorCtr="0"/>
          <a:lstStyle>
            <a:lvl1pPr marL="458754" lvl="0" indent="-37802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333"/>
              <a:buChar char="•"/>
              <a:defRPr/>
            </a:lvl1pPr>
            <a:lvl2pPr marL="917509" lvl="1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2pPr>
            <a:lvl3pPr marL="1376263" lvl="2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3pPr>
            <a:lvl4pPr marL="1835018" lvl="3" indent="-344066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1800"/>
              <a:buChar char="•"/>
              <a:defRPr/>
            </a:lvl4pPr>
            <a:lvl5pPr marL="2293772" lvl="4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5pPr>
            <a:lvl6pPr marL="2752527" lvl="5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6pPr>
            <a:lvl7pPr marL="3211281" lvl="6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7pPr>
            <a:lvl8pPr marL="3670036" lvl="7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8pPr>
            <a:lvl9pPr marL="4128790" lvl="8" indent="-356809" algn="l">
              <a:lnSpc>
                <a:spcPct val="100000"/>
              </a:lnSpc>
              <a:spcBef>
                <a:spcPts val="100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640" userDrawn="1">
          <p15:clr>
            <a:srgbClr val="A4A3A4"/>
          </p15:clr>
        </p15:guide>
        <p15:guide id="2" pos="15400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" y="0"/>
            <a:ext cx="36576001" cy="4191000"/>
          </a:xfrm>
          <a:prstGeom prst="rect">
            <a:avLst/>
          </a:prstGeom>
          <a:solidFill>
            <a:srgbClr val="3C267D"/>
          </a:solidFill>
          <a:ln>
            <a:noFill/>
          </a:ln>
        </p:spPr>
        <p:txBody>
          <a:bodyPr spcFirstLastPara="1" wrap="square" lIns="91739" tIns="45857" rIns="91739" bIns="4585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5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5334004" y="825501"/>
            <a:ext cx="25907999" cy="20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33"/>
              <a:buFont typeface="Cambria"/>
              <a:buNone/>
              <a:defRPr sz="7333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5334004" y="5016501"/>
            <a:ext cx="25907999" cy="19691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7674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333"/>
              <a:buFont typeface="Arial"/>
              <a:buChar char="•"/>
              <a:defRPr sz="2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952500" y="26762248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9182100" y="26762248"/>
            <a:ext cx="18211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27393900" y="26762248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38" b="0" i="0" u="none" strike="noStrike" cap="non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41" userDrawn="1">
          <p15:clr>
            <a:srgbClr val="A4A3A4"/>
          </p15:clr>
        </p15:guide>
        <p15:guide id="2" pos="600" userDrawn="1">
          <p15:clr>
            <a:srgbClr val="A4A3A4"/>
          </p15:clr>
        </p15:guide>
        <p15:guide id="3" pos="22440" userDrawn="1">
          <p15:clr>
            <a:srgbClr val="A4A3A4"/>
          </p15:clr>
        </p15:guide>
        <p15:guide id="4" pos="1152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"/><Relationship Id="rId3" Type="http://schemas.openxmlformats.org/officeDocument/2006/relationships/image" Target="../media/image1.jpg"/><Relationship Id="rId7" Type="http://schemas.openxmlformats.org/officeDocument/2006/relationships/image" Target="../media/image5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if"/><Relationship Id="rId11" Type="http://schemas.openxmlformats.org/officeDocument/2006/relationships/image" Target="../media/image9.png"/><Relationship Id="rId5" Type="http://schemas.openxmlformats.org/officeDocument/2006/relationships/image" Target="../media/image3.tif"/><Relationship Id="rId10" Type="http://schemas.openxmlformats.org/officeDocument/2006/relationships/image" Target="../media/image8.png"/><Relationship Id="rId4" Type="http://schemas.openxmlformats.org/officeDocument/2006/relationships/image" Target="../media/image2.tif"/><Relationship Id="rId9" Type="http://schemas.openxmlformats.org/officeDocument/2006/relationships/image" Target="../media/image7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9624986" y="608456"/>
            <a:ext cx="26426160" cy="2202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39" tIns="45857" rIns="91739" bIns="45857" anchor="b" anchorCtr="0">
            <a:noAutofit/>
          </a:bodyPr>
          <a:lstStyle/>
          <a:p>
            <a:pPr algn="ctr">
              <a:buSzPts val="10000"/>
            </a:pPr>
            <a:r>
              <a:rPr lang="en-US" sz="7200" b="0" noProof="0" dirty="0">
                <a:latin typeface="Times New Roman"/>
                <a:ea typeface="Times New Roman"/>
                <a:cs typeface="Times New Roman"/>
                <a:sym typeface="Times New Roman"/>
              </a:rPr>
              <a:t>Vision Transformer Approach to Superresolution </a:t>
            </a:r>
            <a:br>
              <a:rPr lang="en-US" sz="7200" b="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0" noProof="0" dirty="0">
                <a:latin typeface="Times New Roman"/>
                <a:ea typeface="Times New Roman"/>
                <a:cs typeface="Times New Roman"/>
                <a:sym typeface="Times New Roman"/>
              </a:rPr>
              <a:t>Single-Molecule Localization Imaging</a:t>
            </a:r>
            <a:endParaRPr lang="en-US" sz="7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10740298" y="2721709"/>
            <a:ext cx="24231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39" tIns="45857" rIns="91739" bIns="45857" anchor="t" anchorCtr="0">
            <a:noAutofit/>
          </a:bodyPr>
          <a:lstStyle/>
          <a:p>
            <a:pPr algn="ctr"/>
            <a:r>
              <a:rPr lang="en-US" sz="4400" noProof="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Muzna </a:t>
            </a:r>
            <a:r>
              <a:rPr lang="en-US" sz="4400" noProof="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Yumman</a:t>
            </a:r>
            <a:r>
              <a:rPr lang="en-US" sz="44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00" noProof="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Yi Sun </a:t>
            </a:r>
          </a:p>
          <a:p>
            <a:pPr algn="ctr"/>
            <a:r>
              <a:rPr lang="en-US" sz="4400" noProof="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Electrical Engineering Department, The City College of New York </a:t>
            </a:r>
            <a:endParaRPr lang="en-US" sz="44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D03E0E-4A39-6EAE-64B3-05E5A9737E6C}"/>
              </a:ext>
            </a:extLst>
          </p:cNvPr>
          <p:cNvSpPr txBox="1">
            <a:spLocks/>
          </p:cNvSpPr>
          <p:nvPr/>
        </p:nvSpPr>
        <p:spPr>
          <a:xfrm>
            <a:off x="978198" y="4446435"/>
            <a:ext cx="10058400" cy="48155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343982" tIns="171991" rIns="343982" bIns="171991" rtlCol="0" anchor="t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cap="all" noProof="0" dirty="0"/>
              <a:t>Research Background </a:t>
            </a:r>
            <a:endParaRPr lang="en-US" sz="3000" noProof="0" dirty="0"/>
          </a:p>
          <a:p>
            <a:pPr marL="382270" indent="-407670">
              <a:lnSpc>
                <a:spcPct val="113999"/>
              </a:lnSpc>
              <a:buSzPts val="2700"/>
              <a:buFont typeface="Times New Roman"/>
              <a:buChar char="•"/>
            </a:pPr>
            <a:r>
              <a:rPr lang="en-US" sz="2700" dirty="0">
                <a:latin typeface="Times New Roman"/>
                <a:ea typeface="Times New Roman"/>
              </a:rPr>
              <a:t>Single-molecule localization microscopy (SMLM) is a family of super-resolution fluorescence imaging techniques that overcome the Abbe diffraction limit by localizing individual fluorescent emitters across thousands of frames [3,4,5,6].</a:t>
            </a:r>
          </a:p>
          <a:p>
            <a:pPr marL="382270" indent="-407670">
              <a:lnSpc>
                <a:spcPct val="113999"/>
              </a:lnSpc>
              <a:buSzPts val="2700"/>
              <a:buFont typeface="Times New Roman"/>
              <a:buChar char="•"/>
            </a:pPr>
            <a:r>
              <a:rPr lang="en-US" sz="2700" dirty="0">
                <a:latin typeface="Times New Roman"/>
                <a:ea typeface="Times New Roman"/>
              </a:rPr>
              <a:t>Deep learning has become central to SMLM, enabling faster and more accurate localization than classical fitting methods. Vision Transformers (ViTs) extend this by modeling global spatial relationships using self-attention [1,2].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D7A69B2-D105-D01F-23BD-0EB3836C2872}"/>
              </a:ext>
            </a:extLst>
          </p:cNvPr>
          <p:cNvSpPr txBox="1">
            <a:spLocks/>
          </p:cNvSpPr>
          <p:nvPr/>
        </p:nvSpPr>
        <p:spPr>
          <a:xfrm>
            <a:off x="978198" y="9796826"/>
            <a:ext cx="10020142" cy="39191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343982" tIns="171991" rIns="343982" bIns="171991" rtlCol="0" anchor="t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cap="all" noProof="0" dirty="0"/>
              <a:t>Objectives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Times New Roman"/>
                <a:ea typeface="Times New Roman"/>
              </a:rPr>
              <a:t>Develop a ViT for sub-pixel localization of 1–5 emitters in 7×7 pixels SMLM data frames with 10 nm resolution.</a:t>
            </a:r>
            <a:endParaRPr lang="en-US" sz="3200" b="1" cap="all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Times New Roman"/>
                <a:ea typeface="Times New Roman"/>
              </a:rPr>
              <a:t>Achieve 10 nm precision by treating localization as classification on a 70×70 subpixel grid (4,900 classes), predicting M emitter locations per frame through a multi-head architecture.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7F9F777-90E2-D5EE-C0A3-63777EB803E9}"/>
              </a:ext>
            </a:extLst>
          </p:cNvPr>
          <p:cNvSpPr txBox="1">
            <a:spLocks/>
          </p:cNvSpPr>
          <p:nvPr/>
        </p:nvSpPr>
        <p:spPr>
          <a:xfrm>
            <a:off x="817679" y="14178601"/>
            <a:ext cx="10058400" cy="126449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343982" tIns="171991" rIns="343982" bIns="171991" rtlCol="0" anchor="t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cap="all" noProof="0" dirty="0"/>
              <a:t>METHODS</a:t>
            </a:r>
          </a:p>
          <a:p>
            <a:pPr>
              <a:spcBef>
                <a:spcPct val="20000"/>
              </a:spcBef>
              <a:defRPr/>
            </a:pPr>
            <a:r>
              <a:rPr lang="en-US" sz="3500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Data Generation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frames are synthesized using a 2D Gaussian PSF model (NA = 1.4, </a:t>
            </a:r>
            <a:r>
              <a:rPr lang="el-G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 = 723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nm, 100 nm/pixel) with Poisson photon noise and EMCCD readout noise. Each 7×7 frame contains M = 1–5 randomly positioned emitters with ground-truth coordinates at 10 nm sub-pixel resolution.</a:t>
            </a:r>
            <a:endParaRPr lang="en-US" sz="2700" dirty="0"/>
          </a:p>
          <a:p>
            <a:pPr>
              <a:defRPr/>
            </a:pPr>
            <a:r>
              <a:rPr lang="en-US" sz="3500" b="1" dirty="0">
                <a:solidFill>
                  <a:srgbClr val="0F1115"/>
                </a:solidFill>
                <a:latin typeface="Times New Roman"/>
              </a:rPr>
              <a:t>Network Architecture</a:t>
            </a:r>
            <a:endParaRPr lang="en-US" sz="3500" dirty="0">
              <a:latin typeface="Times New Roman"/>
            </a:endParaRPr>
          </a:p>
          <a:p>
            <a:pPr marL="457200" indent="-457200">
              <a:buChar char="•"/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patch size = 1, treating each pixel as a token (49 tokens per frame). Tokens are projected to 64 dimensions via 1×1 convolution with learnable positional embeddings. </a:t>
            </a:r>
          </a:p>
          <a:p>
            <a:pPr marL="457200" indent="-457200">
              <a:buChar char="•"/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Transformer encoder blocks (4-head self-attention, MLP 64→128→64, GELU, residual connections) process the sequence.</a:t>
            </a:r>
          </a:p>
          <a:p>
            <a:pPr marL="457200" indent="-457200">
              <a:buChar char="•"/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max pooling produces a single 64-dim vector, fed to an MLP head outputting M × 4,900 logits over a 70×70 sub-pixel grid (10 nm resolution).</a:t>
            </a:r>
            <a:endParaRPr lang="en-US" sz="2700" dirty="0">
              <a:solidFill>
                <a:srgbClr val="0F1115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500" b="1" dirty="0">
                <a:solidFill>
                  <a:srgbClr val="0F1115"/>
                </a:solidFill>
                <a:latin typeface="Times New Roman"/>
                <a:ea typeface="Times New Roman"/>
              </a:rPr>
              <a:t>Training Procedure</a:t>
            </a:r>
          </a:p>
          <a:p>
            <a:pPr marL="342900" indent="-342900">
              <a:buChar char="•"/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models are trained for M = 1–5 using Adam (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3×10⁻⁴), batch size 64, for 20 epochs. </a:t>
            </a:r>
          </a:p>
          <a:p>
            <a:pPr marL="342900" indent="-342900">
              <a:buChar char="•"/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 sum of cross-entropy across M heads, with emitters sorted by class index for stable assignment.</a:t>
            </a:r>
            <a:r>
              <a:rPr lang="en-US" sz="27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r>
              <a:rPr lang="en-US" sz="3500" b="1" dirty="0">
                <a:solidFill>
                  <a:srgbClr val="0F1115"/>
                </a:solidFill>
                <a:latin typeface="Times New Roman"/>
              </a:rPr>
              <a:t>Evaluation and Benchmarking</a:t>
            </a:r>
            <a:endParaRPr lang="en-US" sz="3500" dirty="0">
              <a:latin typeface="Times New Roman"/>
            </a:endParaRPr>
          </a:p>
          <a:p>
            <a:pPr marL="457200" indent="-457200">
              <a:buChar char="•"/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 accuracy is measured by RMSMD (root mean square minimum distance), a symmetric nearest-neighbor metric reported in nanometers.</a:t>
            </a:r>
            <a:endParaRPr lang="en-US" sz="27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797A77A-4E6C-1277-3BB0-60744D328212}"/>
              </a:ext>
            </a:extLst>
          </p:cNvPr>
          <p:cNvSpPr txBox="1">
            <a:spLocks/>
          </p:cNvSpPr>
          <p:nvPr/>
        </p:nvSpPr>
        <p:spPr>
          <a:xfrm>
            <a:off x="11455108" y="4493573"/>
            <a:ext cx="13713682" cy="84592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343982" tIns="171991" rIns="343982" bIns="171991" rtlCol="0" anchor="t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cap="all" dirty="0"/>
              <a:t>NETWORK ARCHITECTURE</a:t>
            </a:r>
            <a:endParaRPr lang="en-US" sz="4000" b="1" cap="all" noProof="0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005DF3D4-58FB-0D7A-88B9-B497B6DF24F5}"/>
              </a:ext>
            </a:extLst>
          </p:cNvPr>
          <p:cNvSpPr txBox="1">
            <a:spLocks/>
          </p:cNvSpPr>
          <p:nvPr/>
        </p:nvSpPr>
        <p:spPr>
          <a:xfrm>
            <a:off x="11452790" y="13540902"/>
            <a:ext cx="13716000" cy="69411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343982" tIns="171991" rIns="343982" bIns="171991" rtlCol="0" anchor="t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cap="all" noProof="0" dirty="0"/>
              <a:t>Results – 1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EB84FABF-C939-940E-E340-D906C5CD1A67}"/>
              </a:ext>
            </a:extLst>
          </p:cNvPr>
          <p:cNvSpPr txBox="1">
            <a:spLocks/>
          </p:cNvSpPr>
          <p:nvPr/>
        </p:nvSpPr>
        <p:spPr>
          <a:xfrm>
            <a:off x="11452790" y="21070111"/>
            <a:ext cx="13716000" cy="575343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343982" tIns="171991" rIns="343982" bIns="171991" rtlCol="0" anchor="t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cap="all" dirty="0"/>
              <a:t>Results – 2 </a:t>
            </a:r>
            <a:endParaRPr lang="en-US" sz="4000" b="1" cap="all" noProof="0" dirty="0"/>
          </a:p>
          <a:p>
            <a:pPr>
              <a:spcBef>
                <a:spcPct val="20000"/>
              </a:spcBef>
              <a:defRPr/>
            </a:pPr>
            <a:endParaRPr lang="en-US" sz="4000" b="1" cap="all" dirty="0"/>
          </a:p>
          <a:p>
            <a:pPr>
              <a:spcBef>
                <a:spcPct val="20000"/>
              </a:spcBef>
              <a:defRPr/>
            </a:pPr>
            <a:endParaRPr lang="en-US" sz="4000" b="1" cap="all" noProof="0" dirty="0"/>
          </a:p>
        </p:txBody>
      </p:sp>
      <p:pic>
        <p:nvPicPr>
          <p:cNvPr id="29" name="Picture 28" descr="A purple and white sign  Description automatically generated">
            <a:extLst>
              <a:ext uri="{FF2B5EF4-FFF2-40B4-BE49-F238E27FC236}">
                <a16:creationId xmlns:a16="http://schemas.microsoft.com/office/drawing/2014/main" id="{3AD0452F-BE6D-4AA8-599B-033236456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01" y="505485"/>
            <a:ext cx="8915400" cy="3192953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4D966132-DD41-45EF-2B45-76B9DE61D49E}"/>
              </a:ext>
            </a:extLst>
          </p:cNvPr>
          <p:cNvSpPr txBox="1">
            <a:spLocks/>
          </p:cNvSpPr>
          <p:nvPr/>
        </p:nvSpPr>
        <p:spPr>
          <a:xfrm>
            <a:off x="25640685" y="14344638"/>
            <a:ext cx="10034004" cy="39628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343982" tIns="171991" rIns="343982" bIns="171991" rtlCol="0" anchor="t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cap="all" noProof="0" dirty="0"/>
              <a:t>Conclusions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localization accuracy close to EM and significantly outperforms UGIA-F, confirming that a data-driven approach can approach model-based performance without knowledge of the imaging system parameters.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will extend the framework to SMLM data movies, variable emitter counts, larger frames, and experimental datasets.</a:t>
            </a:r>
            <a:endParaRPr lang="en-US" sz="27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6CC4952C-3A3C-CA4E-9EE7-942C7B72C418}"/>
              </a:ext>
            </a:extLst>
          </p:cNvPr>
          <p:cNvSpPr txBox="1">
            <a:spLocks/>
          </p:cNvSpPr>
          <p:nvPr/>
        </p:nvSpPr>
        <p:spPr>
          <a:xfrm>
            <a:off x="25621635" y="21566075"/>
            <a:ext cx="10058400" cy="52364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343982" tIns="171991" rIns="343982" bIns="171991" rtlCol="0" anchor="t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cap="all" noProof="0" dirty="0"/>
              <a:t>References</a:t>
            </a:r>
          </a:p>
          <a:p>
            <a:pPr>
              <a:spcBef>
                <a:spcPct val="20000"/>
              </a:spcBef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Vaswani, A., et al. Advances in Neural Information Processing Systems 30 (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5998–6008 (2017). </a:t>
            </a:r>
          </a:p>
          <a:p>
            <a:pPr>
              <a:spcBef>
                <a:spcPct val="20000"/>
              </a:spcBef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Dosovitskiy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International Conference on Learning Representations (ICLR) (2021). </a:t>
            </a:r>
          </a:p>
          <a:p>
            <a:pPr>
              <a:spcBef>
                <a:spcPct val="20000"/>
              </a:spcBef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Sun, Y. Optics Express 32(19), 33779–33794 (2024). </a:t>
            </a:r>
          </a:p>
          <a:p>
            <a:pPr>
              <a:spcBef>
                <a:spcPct val="20000"/>
              </a:spcBef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Sun, Y. Scientific Reports 8(1), 17211 (2018). </a:t>
            </a:r>
          </a:p>
          <a:p>
            <a:pPr>
              <a:spcBef>
                <a:spcPct val="20000"/>
              </a:spcBef>
              <a:defRPr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Sun, Y. Journal of Biomedical Optics 18(11), 111418 (2013). [6] Sun, Y., et al. Quantitative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BioImaging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Conference (QBI) (2014).</a:t>
            </a:r>
            <a:endParaRPr lang="en-US" sz="2700" noProof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88526730-5C2D-EDBD-B05F-88F0D187583D}"/>
              </a:ext>
            </a:extLst>
          </p:cNvPr>
          <p:cNvSpPr txBox="1">
            <a:spLocks/>
          </p:cNvSpPr>
          <p:nvPr/>
        </p:nvSpPr>
        <p:spPr>
          <a:xfrm>
            <a:off x="25627478" y="4493574"/>
            <a:ext cx="10058400" cy="93975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343982" tIns="171991" rIns="343982" bIns="171991" rtlCol="0" anchor="t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cap="all" noProof="0" dirty="0"/>
              <a:t>Results – </a:t>
            </a:r>
            <a:r>
              <a:rPr lang="en-US" sz="4000" b="1" cap="all" dirty="0"/>
              <a:t>3</a:t>
            </a:r>
            <a:endParaRPr lang="en-US" sz="4000" b="1" cap="all" noProof="0" dirty="0"/>
          </a:p>
          <a:p>
            <a:pPr>
              <a:spcBef>
                <a:spcPct val="20000"/>
              </a:spcBef>
              <a:defRPr/>
            </a:pPr>
            <a:endParaRPr lang="en-US" sz="3200" b="1" cap="all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5313" lvl="1" defTabSz="510625">
              <a:spcBef>
                <a:spcPct val="20000"/>
              </a:spcBef>
              <a:buFont typeface="Symbol" pitchFamily="18" charset="2"/>
              <a:buChar char="·"/>
              <a:defRPr/>
            </a:pPr>
            <a:endParaRPr lang="en-US" sz="3000" noProof="0" dirty="0">
              <a:cs typeface="Times New Roman" pitchFamily="18" charset="0"/>
              <a:sym typeface="Symbol"/>
            </a:endParaRPr>
          </a:p>
        </p:txBody>
      </p:sp>
      <p:sp>
        <p:nvSpPr>
          <p:cNvPr id="75" name="Google Shape;48;p3"/>
          <p:cNvSpPr txBox="1"/>
          <p:nvPr/>
        </p:nvSpPr>
        <p:spPr>
          <a:xfrm>
            <a:off x="11740207" y="22048497"/>
            <a:ext cx="12611352" cy="1132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39" tIns="45857" rIns="91739" bIns="45857" anchor="t" anchorCtr="0">
            <a:noAutofit/>
          </a:bodyPr>
          <a:lstStyle/>
          <a:p>
            <a:r>
              <a:rPr lang="en-US" sz="2700" dirty="0">
                <a:latin typeface="Times New Roman"/>
                <a:cs typeface="Times New Roman"/>
              </a:rPr>
              <a:t>Comparison of Ground Truth, UGIA-F, EM, and ViT reconstructions for multi-emitter </a:t>
            </a:r>
          </a:p>
          <a:p>
            <a:r>
              <a:rPr lang="en-US" sz="2700" dirty="0">
                <a:latin typeface="Times New Roman"/>
                <a:cs typeface="Times New Roman"/>
              </a:rPr>
              <a:t>data frames (M=1 to 5)</a:t>
            </a:r>
            <a:endParaRPr lang="en-US" sz="2700" dirty="0">
              <a:solidFill>
                <a:srgbClr val="0F1115"/>
              </a:solidFill>
              <a:latin typeface="Times New Roman"/>
              <a:ea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CCFF6-D754-DEE6-DAB5-968A854E6DAD}"/>
              </a:ext>
            </a:extLst>
          </p:cNvPr>
          <p:cNvSpPr txBox="1"/>
          <p:nvPr/>
        </p:nvSpPr>
        <p:spPr>
          <a:xfrm>
            <a:off x="25746211" y="11898417"/>
            <a:ext cx="3250637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700">
                <a:latin typeface="Times New Roman"/>
                <a:cs typeface="Times New Roman"/>
              </a:rPr>
              <a:t>.</a:t>
            </a:r>
            <a:endParaRPr lang="en-US" sz="2700" dirty="0">
              <a:latin typeface="Times New Roman"/>
              <a:cs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680495-D639-AB01-B51B-8A14AC53FF5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6949993" y="26922668"/>
            <a:ext cx="8804247" cy="359544"/>
          </a:xfrm>
        </p:spPr>
        <p:txBody>
          <a:bodyPr lIns="0" rIns="0"/>
          <a:lstStyle/>
          <a:p>
            <a:pPr algn="r">
              <a:spcBef>
                <a:spcPts val="1200"/>
              </a:spcBef>
            </a:pPr>
            <a:r>
              <a:rPr lang="en-US" dirty="0"/>
              <a:t>GSoE Expo, CCNY, March 5, 2026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62EB35E-14EE-26AA-E54C-39FEDB92A6F3}"/>
              </a:ext>
            </a:extLst>
          </p:cNvPr>
          <p:cNvSpPr txBox="1">
            <a:spLocks/>
          </p:cNvSpPr>
          <p:nvPr/>
        </p:nvSpPr>
        <p:spPr>
          <a:xfrm>
            <a:off x="25616289" y="18639685"/>
            <a:ext cx="10058400" cy="24304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343982" tIns="171991" rIns="343982" bIns="171991" rtlCol="0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b="1" cap="all" noProof="0" dirty="0"/>
              <a:t>Acknowledgments </a:t>
            </a:r>
            <a:endParaRPr lang="en-US" sz="3200" b="1" cap="all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5313" lvl="1" defTabSz="510625">
              <a:spcBef>
                <a:spcPct val="20000"/>
              </a:spcBef>
              <a:defRPr/>
            </a:pPr>
            <a:r>
              <a:rPr lang="en-US" sz="27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This work is partly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supported by National Science Foundation (CCF-2313072) and Army Research Office (W911NF-23-1-0189).</a:t>
            </a:r>
            <a:endParaRPr lang="en-US" sz="2700" noProof="0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E973568-E9F4-8B8A-9CCB-5E5DFAD33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0585" y="23911686"/>
            <a:ext cx="2220722" cy="222072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BD6EAC6-AA2A-9B41-8AF8-C63220133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3119" y="23938612"/>
            <a:ext cx="2213193" cy="221319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264DEA7-B98F-A84C-6942-FD1C34860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35580" y="23911686"/>
            <a:ext cx="2263552" cy="226355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B744A1E-EB37-3CF9-5C95-63B9F66767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97807" y="23911686"/>
            <a:ext cx="2280128" cy="228012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F597F3-44F0-98B0-E263-9675CAA545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84649" y="23878219"/>
            <a:ext cx="2280128" cy="228012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205F103-7EF6-8717-C994-2316CFC809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83541" y="5674426"/>
            <a:ext cx="8988357" cy="6741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CBD496-6AE9-EEA9-D0D6-40BD43EB36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95843" y="5970493"/>
            <a:ext cx="13139949" cy="45259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2E2D64-3799-62B3-B0C5-8D45128734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05313" y="14329725"/>
            <a:ext cx="12348969" cy="44090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9B8FFE-E4EB-DDC9-E171-8CC0335325D4}"/>
              </a:ext>
            </a:extLst>
          </p:cNvPr>
          <p:cNvSpPr txBox="1"/>
          <p:nvPr/>
        </p:nvSpPr>
        <p:spPr>
          <a:xfrm>
            <a:off x="12739470" y="19065949"/>
            <a:ext cx="115148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>
                <a:latin typeface="Times New Roman"/>
              </a:rPr>
              <a:t>Learning curves for the </a:t>
            </a:r>
            <a:r>
              <a:rPr lang="en-US" sz="2700" dirty="0" err="1">
                <a:latin typeface="Times New Roman"/>
              </a:rPr>
              <a:t>ViT</a:t>
            </a:r>
            <a:r>
              <a:rPr lang="en-US" sz="2700" dirty="0">
                <a:latin typeface="Times New Roman"/>
              </a:rPr>
              <a:t> (M=5). Left: Training and validation loss converge within 20 epochs. Right: RMSMD (nm) decreases steadily with training.</a:t>
            </a:r>
            <a:endParaRPr lang="en-US" sz="2700" dirty="0">
              <a:latin typeface="Times New Roman"/>
              <a:cs typeface="Times New Roman"/>
            </a:endParaRPr>
          </a:p>
        </p:txBody>
      </p:sp>
      <p:sp>
        <p:nvSpPr>
          <p:cNvPr id="38" name="Google Shape;48;p3">
            <a:extLst>
              <a:ext uri="{FF2B5EF4-FFF2-40B4-BE49-F238E27FC236}">
                <a16:creationId xmlns:a16="http://schemas.microsoft.com/office/drawing/2014/main" id="{00BC4D7A-2081-9C5D-190A-1DFAC73AD53E}"/>
              </a:ext>
            </a:extLst>
          </p:cNvPr>
          <p:cNvSpPr txBox="1"/>
          <p:nvPr/>
        </p:nvSpPr>
        <p:spPr>
          <a:xfrm>
            <a:off x="25713513" y="12526359"/>
            <a:ext cx="9863952" cy="1006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739" tIns="45857" rIns="91739" bIns="45857" anchor="t" anchorCtr="0">
            <a:no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RMSMD vs. Number of emitters: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&lt;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≪ UGIA-F,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confirming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near-EM accuracy.</a:t>
            </a:r>
            <a:endParaRPr lang="en-US" sz="2700" dirty="0">
              <a:solidFill>
                <a:srgbClr val="0F111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5326C9-D48C-232B-3ECF-649B72E28C4D}"/>
              </a:ext>
            </a:extLst>
          </p:cNvPr>
          <p:cNvSpPr txBox="1"/>
          <p:nvPr/>
        </p:nvSpPr>
        <p:spPr>
          <a:xfrm>
            <a:off x="11695843" y="11128205"/>
            <a:ext cx="13184313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7×7 SMLM frames are tokenized at patch size 1 (49 tokens), encoded via four Transformer blocks, and mapped to M×4,900 sub-pixel class logits for 10 nm localization.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cal Poster">
  <a:themeElements>
    <a:clrScheme name="Custom 2 1">
      <a:dk1>
        <a:srgbClr val="292934"/>
      </a:dk1>
      <a:lt1>
        <a:srgbClr val="FFFFFF"/>
      </a:lt1>
      <a:dk2>
        <a:srgbClr val="5133A7"/>
      </a:dk2>
      <a:lt2>
        <a:srgbClr val="F3F2DC"/>
      </a:lt2>
      <a:accent1>
        <a:srgbClr val="673AB7"/>
      </a:accent1>
      <a:accent2>
        <a:srgbClr val="673AB7"/>
      </a:accent2>
      <a:accent3>
        <a:srgbClr val="673AB7"/>
      </a:accent3>
      <a:accent4>
        <a:srgbClr val="673AB7"/>
      </a:accent4>
      <a:accent5>
        <a:srgbClr val="673AB7"/>
      </a:accent5>
      <a:accent6>
        <a:srgbClr val="673AB7"/>
      </a:accent6>
      <a:hlink>
        <a:srgbClr val="4C5A6A"/>
      </a:hlink>
      <a:folHlink>
        <a:srgbClr val="808D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4C5A6A"/>
      </a:hlink>
      <a:folHlink>
        <a:srgbClr val="808D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10439</TotalTime>
  <Words>677</Words>
  <Application>Microsoft Office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Times New Roman</vt:lpstr>
      <vt:lpstr>Calibri</vt:lpstr>
      <vt:lpstr>Arial</vt:lpstr>
      <vt:lpstr>Symbol</vt:lpstr>
      <vt:lpstr>Cambria</vt:lpstr>
      <vt:lpstr>Medical Poster</vt:lpstr>
      <vt:lpstr>Vision Transformer Approach to Superresolution  Single-Molecule Localization Imaging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System</dc:title>
  <dc:creator>Fernando Correa</dc:creator>
  <cp:lastModifiedBy>MUZNA YUMMAN</cp:lastModifiedBy>
  <cp:revision>402</cp:revision>
  <dcterms:modified xsi:type="dcterms:W3CDTF">2026-03-04T16:02:12Z</dcterms:modified>
</cp:coreProperties>
</file>