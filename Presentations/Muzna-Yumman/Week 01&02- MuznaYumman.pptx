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7c1b97320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7c1b97320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7c1b97320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7c1b97320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structure of the transformer, we divide it into two micro blocks.</a:t>
            </a:r>
            <a:endParaRPr/>
          </a:p>
          <a:p>
            <a:pPr indent="0" lvl="0" marL="0" rtl="0" algn="l">
              <a:spcBef>
                <a:spcPts val="0"/>
              </a:spcBef>
              <a:spcAft>
                <a:spcPts val="0"/>
              </a:spcAft>
              <a:buNone/>
            </a:pPr>
            <a:r>
              <a:rPr lang="en"/>
              <a:t>The first part, Encoder: left</a:t>
            </a:r>
            <a:endParaRPr/>
          </a:p>
          <a:p>
            <a:pPr indent="0" lvl="0" marL="0" rtl="0" algn="l">
              <a:spcBef>
                <a:spcPts val="0"/>
              </a:spcBef>
              <a:spcAft>
                <a:spcPts val="0"/>
              </a:spcAft>
              <a:buNone/>
            </a:pPr>
            <a:r>
              <a:rPr lang="en"/>
              <a:t>The second part, Decoder: right</a:t>
            </a:r>
            <a:endParaRPr/>
          </a:p>
          <a:p>
            <a:pPr indent="0" lvl="0" marL="0" rtl="0" algn="l">
              <a:spcBef>
                <a:spcPts val="0"/>
              </a:spcBef>
              <a:spcAft>
                <a:spcPts val="0"/>
              </a:spcAft>
              <a:buNone/>
            </a:pPr>
            <a:r>
              <a:rPr lang="en"/>
              <a:t>Connected</a:t>
            </a:r>
            <a:r>
              <a:rPr lang="en"/>
              <a:t> such that the information from the encoder send to the decoder.</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7c1b97320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7c1b97320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Input sentence — token</a:t>
            </a:r>
            <a:endParaRPr/>
          </a:p>
          <a:p>
            <a:pPr indent="0" lvl="0" marL="0" rtl="0" algn="l">
              <a:spcBef>
                <a:spcPts val="0"/>
              </a:spcBef>
              <a:spcAft>
                <a:spcPts val="0"/>
              </a:spcAft>
              <a:buNone/>
            </a:pPr>
            <a:r>
              <a:rPr lang="en"/>
              <a:t>Input ID: Number — position in the vocabulary</a:t>
            </a:r>
            <a:endParaRPr/>
          </a:p>
          <a:p>
            <a:pPr indent="0" lvl="0" marL="0" rtl="0" algn="l">
              <a:spcBef>
                <a:spcPts val="0"/>
              </a:spcBef>
              <a:spcAft>
                <a:spcPts val="0"/>
              </a:spcAft>
              <a:buNone/>
            </a:pPr>
            <a:r>
              <a:rPr lang="en"/>
              <a:t>Input ID – input vector, embedding.</a:t>
            </a:r>
            <a:endParaRPr/>
          </a:p>
          <a:p>
            <a:pPr indent="0" lvl="0" marL="0" rtl="0" algn="l">
              <a:spcBef>
                <a:spcPts val="0"/>
              </a:spcBef>
              <a:spcAft>
                <a:spcPts val="0"/>
              </a:spcAft>
              <a:buNone/>
            </a:pPr>
            <a:r>
              <a:rPr lang="en"/>
              <a:t>We define d </a:t>
            </a:r>
            <a:r>
              <a:rPr lang="en"/>
              <a:t>mode = 512 which represent the size of embedding vector of each word.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Input ID will not change but input embedding will change according to the loss function.</a:t>
            </a:r>
            <a:endParaRPr/>
          </a:p>
          <a:p>
            <a:pPr indent="0" lvl="0" marL="0" rtl="0" algn="l">
              <a:spcBef>
                <a:spcPts val="0"/>
              </a:spcBef>
              <a:spcAft>
                <a:spcPts val="0"/>
              </a:spcAft>
              <a:buNone/>
            </a:pPr>
            <a:r>
              <a:rPr lang="en"/>
              <a:t>Our model will learn to change the number in the embedding vectors in such a way it represents the meaning of the word. It is basically a mapping from single word to a mapping to 515 vector.</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7c1b97320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7c1b97320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We want that each word to carry the information about its position in the sentence.</a:t>
            </a:r>
            <a:endParaRPr sz="900">
              <a:solidFill>
                <a:srgbClr val="595959"/>
              </a:solidFill>
            </a:endParaRPr>
          </a:p>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We want the model to treat words that appear close to each other “close” and words that are distant as “distant”</a:t>
            </a:r>
            <a:endParaRPr sz="900">
              <a:solidFill>
                <a:srgbClr val="595959"/>
              </a:solidFill>
            </a:endParaRPr>
          </a:p>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We want positional encoding to present a pattern that can learned by the model.</a:t>
            </a:r>
            <a:endParaRPr sz="900">
              <a:solidFill>
                <a:srgbClr val="595959"/>
              </a:solidFill>
            </a:endParaRPr>
          </a:p>
          <a:p>
            <a:pPr indent="0" lvl="0" marL="0" rtl="0" algn="l">
              <a:lnSpc>
                <a:spcPct val="115000"/>
              </a:lnSpc>
              <a:spcBef>
                <a:spcPts val="1200"/>
              </a:spcBef>
              <a:spcAft>
                <a:spcPts val="0"/>
              </a:spcAft>
              <a:buNone/>
            </a:pPr>
            <a:r>
              <a:t/>
            </a:r>
            <a:endParaRPr sz="900">
              <a:solidFill>
                <a:srgbClr val="595959"/>
              </a:solidFill>
            </a:endParaRPr>
          </a:p>
          <a:p>
            <a:pPr indent="0" lvl="0" marL="0" rtl="0" algn="l">
              <a:lnSpc>
                <a:spcPct val="115000"/>
              </a:lnSpc>
              <a:spcBef>
                <a:spcPts val="1200"/>
              </a:spcBef>
              <a:spcAft>
                <a:spcPts val="1200"/>
              </a:spcAft>
              <a:buNone/>
            </a:pPr>
            <a:r>
              <a:rPr lang="en" sz="900">
                <a:solidFill>
                  <a:srgbClr val="595959"/>
                </a:solidFill>
              </a:rPr>
              <a:t>After creating the embedding vectors, we add another vector (positional vector). It is fixed and not learned. This vector represent the position of word in the sentence. It gives the output of vector of size 512.</a:t>
            </a:r>
            <a:endParaRPr sz="900">
              <a:solidFill>
                <a:srgbClr val="595959"/>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c1b97320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7c1b97320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7c1b97320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7c1b97320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7c1b97320e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7c1b97320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Exit before transformer, </a:t>
            </a:r>
            <a:r>
              <a:rPr lang="en"/>
              <a:t>transformer</a:t>
            </a:r>
            <a:r>
              <a:rPr lang="en"/>
              <a:t> changed it into multi head attention.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7c1b97320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7c1b97320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7e773685d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7e773685d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c1b97320e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7c1b97320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94500" y="1620700"/>
            <a:ext cx="5637900" cy="1176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Transformers</a:t>
            </a:r>
            <a:endParaRPr/>
          </a:p>
        </p:txBody>
      </p:sp>
      <p:sp>
        <p:nvSpPr>
          <p:cNvPr id="55" name="Google Shape;55;p13"/>
          <p:cNvSpPr txBox="1"/>
          <p:nvPr>
            <p:ph idx="1" type="subTitle"/>
          </p:nvPr>
        </p:nvSpPr>
        <p:spPr>
          <a:xfrm>
            <a:off x="3866750" y="2834125"/>
            <a:ext cx="4965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Attention All You Need</a:t>
            </a:r>
            <a:endParaRPr/>
          </a:p>
        </p:txBody>
      </p:sp>
      <p:pic>
        <p:nvPicPr>
          <p:cNvPr id="56" name="Google Shape;56;p13"/>
          <p:cNvPicPr preferRelativeResize="0"/>
          <p:nvPr/>
        </p:nvPicPr>
        <p:blipFill>
          <a:blip r:embed="rId3">
            <a:alphaModFix/>
          </a:blip>
          <a:stretch>
            <a:fillRect/>
          </a:stretch>
        </p:blipFill>
        <p:spPr>
          <a:xfrm>
            <a:off x="1208450" y="934100"/>
            <a:ext cx="2490275" cy="30316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None/>
            </a:pPr>
            <a:r>
              <a:rPr b="1" lang="en" sz="2000"/>
              <a:t>Limitations of Previous Models</a:t>
            </a:r>
            <a:endParaRPr sz="3500"/>
          </a:p>
        </p:txBody>
      </p:sp>
      <p:pic>
        <p:nvPicPr>
          <p:cNvPr id="62" name="Google Shape;62;p14"/>
          <p:cNvPicPr preferRelativeResize="0"/>
          <p:nvPr/>
        </p:nvPicPr>
        <p:blipFill>
          <a:blip r:embed="rId3">
            <a:alphaModFix/>
          </a:blip>
          <a:stretch>
            <a:fillRect/>
          </a:stretch>
        </p:blipFill>
        <p:spPr>
          <a:xfrm>
            <a:off x="3919250" y="1276750"/>
            <a:ext cx="4913050" cy="2141825"/>
          </a:xfrm>
          <a:prstGeom prst="rect">
            <a:avLst/>
          </a:prstGeom>
          <a:noFill/>
          <a:ln>
            <a:noFill/>
          </a:ln>
        </p:spPr>
      </p:pic>
      <p:sp>
        <p:nvSpPr>
          <p:cNvPr id="63" name="Google Shape;63;p14"/>
          <p:cNvSpPr txBox="1"/>
          <p:nvPr/>
        </p:nvSpPr>
        <p:spPr>
          <a:xfrm>
            <a:off x="208250" y="1276750"/>
            <a:ext cx="3711000" cy="21612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1"/>
              </a:buClr>
              <a:buSzPts val="1600"/>
              <a:buChar char="●"/>
            </a:pPr>
            <a:r>
              <a:rPr lang="en" sz="1600">
                <a:solidFill>
                  <a:schemeClr val="dk1"/>
                </a:solidFill>
              </a:rPr>
              <a:t>RNNs/LSTMs → sequential, slow, hard to parallelize</a:t>
            </a:r>
            <a:br>
              <a:rPr lang="en" sz="1600">
                <a:solidFill>
                  <a:schemeClr val="dk1"/>
                </a:solidFill>
              </a:rPr>
            </a:br>
            <a:endParaRPr sz="16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600">
                <a:solidFill>
                  <a:schemeClr val="dk1"/>
                </a:solidFill>
              </a:rPr>
              <a:t>CNNs → better parallelization, but weak at long-range dependencies</a:t>
            </a:r>
            <a:br>
              <a:rPr lang="en" sz="1100">
                <a:solidFill>
                  <a:schemeClr val="dk1"/>
                </a:solidFill>
              </a:rPr>
            </a:br>
            <a:endParaRPr sz="1800">
              <a:solidFill>
                <a:schemeClr val="dk2"/>
              </a:solidFill>
            </a:endParaRPr>
          </a:p>
        </p:txBody>
      </p:sp>
      <p:sp>
        <p:nvSpPr>
          <p:cNvPr id="64" name="Google Shape;64;p14"/>
          <p:cNvSpPr txBox="1"/>
          <p:nvPr/>
        </p:nvSpPr>
        <p:spPr>
          <a:xfrm>
            <a:off x="208250" y="3696975"/>
            <a:ext cx="8390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600">
                <a:solidFill>
                  <a:schemeClr val="dk1"/>
                </a:solidFill>
              </a:rPr>
              <a:t>NOTE: </a:t>
            </a:r>
            <a:r>
              <a:rPr lang="en" sz="1600">
                <a:solidFill>
                  <a:schemeClr val="dk1"/>
                </a:solidFill>
              </a:rPr>
              <a:t>Transformers</a:t>
            </a:r>
            <a:r>
              <a:rPr lang="en" sz="1600">
                <a:solidFill>
                  <a:schemeClr val="dk1"/>
                </a:solidFill>
              </a:rPr>
              <a:t> key idea is to remove recurrence &amp; convolutions. Use only </a:t>
            </a:r>
            <a:r>
              <a:rPr b="1" lang="en" sz="1600">
                <a:solidFill>
                  <a:schemeClr val="dk1"/>
                </a:solidFill>
              </a:rPr>
              <a:t>attention</a:t>
            </a:r>
            <a:endParaRPr sz="23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Transformer Architecture</a:t>
            </a:r>
            <a:endParaRPr/>
          </a:p>
        </p:txBody>
      </p:sp>
      <p:pic>
        <p:nvPicPr>
          <p:cNvPr id="70" name="Google Shape;70;p15"/>
          <p:cNvPicPr preferRelativeResize="0"/>
          <p:nvPr/>
        </p:nvPicPr>
        <p:blipFill>
          <a:blip r:embed="rId3">
            <a:alphaModFix/>
          </a:blip>
          <a:stretch>
            <a:fillRect/>
          </a:stretch>
        </p:blipFill>
        <p:spPr>
          <a:xfrm>
            <a:off x="5481550" y="799575"/>
            <a:ext cx="3350750" cy="4079200"/>
          </a:xfrm>
          <a:prstGeom prst="rect">
            <a:avLst/>
          </a:prstGeom>
          <a:noFill/>
          <a:ln>
            <a:noFill/>
          </a:ln>
        </p:spPr>
      </p:pic>
      <p:sp>
        <p:nvSpPr>
          <p:cNvPr id="71" name="Google Shape;71;p15"/>
          <p:cNvSpPr/>
          <p:nvPr/>
        </p:nvSpPr>
        <p:spPr>
          <a:xfrm>
            <a:off x="927600" y="1964650"/>
            <a:ext cx="1156800" cy="8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Encoder</a:t>
            </a:r>
            <a:endParaRPr/>
          </a:p>
        </p:txBody>
      </p:sp>
      <p:sp>
        <p:nvSpPr>
          <p:cNvPr id="72" name="Google Shape;72;p15"/>
          <p:cNvSpPr/>
          <p:nvPr/>
        </p:nvSpPr>
        <p:spPr>
          <a:xfrm>
            <a:off x="3894075" y="1964650"/>
            <a:ext cx="1156800" cy="8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Decoder</a:t>
            </a:r>
            <a:endParaRPr/>
          </a:p>
        </p:txBody>
      </p:sp>
      <p:cxnSp>
        <p:nvCxnSpPr>
          <p:cNvPr id="73" name="Google Shape;73;p15"/>
          <p:cNvCxnSpPr>
            <a:stCxn id="71" idx="3"/>
            <a:endCxn id="72" idx="1"/>
          </p:cNvCxnSpPr>
          <p:nvPr/>
        </p:nvCxnSpPr>
        <p:spPr>
          <a:xfrm>
            <a:off x="2084400" y="2371150"/>
            <a:ext cx="1809600" cy="0"/>
          </a:xfrm>
          <a:prstGeom prst="straightConnector1">
            <a:avLst/>
          </a:prstGeom>
          <a:noFill/>
          <a:ln cap="flat" cmpd="sng" w="9525">
            <a:solidFill>
              <a:schemeClr val="dk2"/>
            </a:solidFill>
            <a:prstDash val="solid"/>
            <a:round/>
            <a:headEnd len="med" w="med" type="none"/>
            <a:tailEnd len="med" w="med" type="triangle"/>
          </a:ln>
        </p:spPr>
      </p:cxnSp>
      <p:cxnSp>
        <p:nvCxnSpPr>
          <p:cNvPr id="74" name="Google Shape;74;p15"/>
          <p:cNvCxnSpPr/>
          <p:nvPr/>
        </p:nvCxnSpPr>
        <p:spPr>
          <a:xfrm>
            <a:off x="302250" y="2371125"/>
            <a:ext cx="681900" cy="23400"/>
          </a:xfrm>
          <a:prstGeom prst="straightConnector1">
            <a:avLst/>
          </a:prstGeom>
          <a:noFill/>
          <a:ln cap="flat" cmpd="sng" w="9525">
            <a:solidFill>
              <a:schemeClr val="dk2"/>
            </a:solidFill>
            <a:prstDash val="solid"/>
            <a:round/>
            <a:headEnd len="med" w="med" type="none"/>
            <a:tailEnd len="med" w="med" type="triangle"/>
          </a:ln>
        </p:spPr>
      </p:cxnSp>
      <p:sp>
        <p:nvSpPr>
          <p:cNvPr id="75" name="Google Shape;75;p15"/>
          <p:cNvSpPr txBox="1"/>
          <p:nvPr/>
        </p:nvSpPr>
        <p:spPr>
          <a:xfrm>
            <a:off x="208450" y="1839575"/>
            <a:ext cx="56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cxnSp>
        <p:nvCxnSpPr>
          <p:cNvPr id="76" name="Google Shape;76;p15"/>
          <p:cNvCxnSpPr/>
          <p:nvPr/>
        </p:nvCxnSpPr>
        <p:spPr>
          <a:xfrm>
            <a:off x="5050875" y="2371125"/>
            <a:ext cx="681900" cy="23400"/>
          </a:xfrm>
          <a:prstGeom prst="straightConnector1">
            <a:avLst/>
          </a:prstGeom>
          <a:noFill/>
          <a:ln cap="flat" cmpd="sng" w="9525">
            <a:solidFill>
              <a:schemeClr val="dk2"/>
            </a:solidFill>
            <a:prstDash val="solid"/>
            <a:round/>
            <a:headEnd len="med" w="med" type="none"/>
            <a:tailEnd len="med" w="med" type="triangle"/>
          </a:ln>
        </p:spPr>
      </p:cxnSp>
      <p:sp>
        <p:nvSpPr>
          <p:cNvPr id="77" name="Google Shape;77;p15"/>
          <p:cNvSpPr txBox="1"/>
          <p:nvPr/>
        </p:nvSpPr>
        <p:spPr>
          <a:xfrm>
            <a:off x="958875" y="3262250"/>
            <a:ext cx="161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 =6 layers</a:t>
            </a:r>
            <a:endParaRPr sz="1800">
              <a:solidFill>
                <a:schemeClr val="dk2"/>
              </a:solidFill>
            </a:endParaRPr>
          </a:p>
        </p:txBody>
      </p:sp>
      <p:sp>
        <p:nvSpPr>
          <p:cNvPr id="78" name="Google Shape;78;p15"/>
          <p:cNvSpPr txBox="1"/>
          <p:nvPr/>
        </p:nvSpPr>
        <p:spPr>
          <a:xfrm>
            <a:off x="3854925" y="3262250"/>
            <a:ext cx="161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 =6 layers</a:t>
            </a:r>
            <a:endParaRPr sz="1800">
              <a:solidFill>
                <a:schemeClr val="dk2"/>
              </a:solidFill>
            </a:endParaRPr>
          </a:p>
        </p:txBody>
      </p:sp>
      <p:sp>
        <p:nvSpPr>
          <p:cNvPr id="79" name="Google Shape;79;p15"/>
          <p:cNvSpPr txBox="1"/>
          <p:nvPr/>
        </p:nvSpPr>
        <p:spPr>
          <a:xfrm>
            <a:off x="677450" y="1308025"/>
            <a:ext cx="415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Encoder and Decoder Stacks</a:t>
            </a:r>
            <a:endParaRPr sz="1800">
              <a:solidFill>
                <a:schemeClr val="dk2"/>
              </a:solidFill>
            </a:endParaRPr>
          </a:p>
        </p:txBody>
      </p:sp>
      <p:pic>
        <p:nvPicPr>
          <p:cNvPr id="80" name="Google Shape;80;p15"/>
          <p:cNvPicPr preferRelativeResize="0"/>
          <p:nvPr/>
        </p:nvPicPr>
        <p:blipFill>
          <a:blip r:embed="rId4">
            <a:alphaModFix/>
          </a:blip>
          <a:stretch>
            <a:fillRect/>
          </a:stretch>
        </p:blipFill>
        <p:spPr>
          <a:xfrm>
            <a:off x="1872125" y="4063975"/>
            <a:ext cx="2381250" cy="266700"/>
          </a:xfrm>
          <a:prstGeom prst="rect">
            <a:avLst/>
          </a:prstGeom>
          <a:noFill/>
          <a:ln>
            <a:noFill/>
          </a:ln>
        </p:spPr>
      </p:pic>
      <p:pic>
        <p:nvPicPr>
          <p:cNvPr id="81" name="Google Shape;81;p15"/>
          <p:cNvPicPr preferRelativeResize="0"/>
          <p:nvPr/>
        </p:nvPicPr>
        <p:blipFill>
          <a:blip r:embed="rId5">
            <a:alphaModFix/>
          </a:blip>
          <a:stretch>
            <a:fillRect/>
          </a:stretch>
        </p:blipFill>
        <p:spPr>
          <a:xfrm>
            <a:off x="2576975" y="4514350"/>
            <a:ext cx="971550" cy="209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Input Embedding</a:t>
            </a:r>
            <a:endParaRPr/>
          </a:p>
        </p:txBody>
      </p:sp>
      <p:pic>
        <p:nvPicPr>
          <p:cNvPr id="87" name="Google Shape;87;p16"/>
          <p:cNvPicPr preferRelativeResize="0"/>
          <p:nvPr/>
        </p:nvPicPr>
        <p:blipFill>
          <a:blip r:embed="rId3">
            <a:alphaModFix/>
          </a:blip>
          <a:stretch>
            <a:fillRect/>
          </a:stretch>
        </p:blipFill>
        <p:spPr>
          <a:xfrm>
            <a:off x="0" y="1735350"/>
            <a:ext cx="9143999" cy="3408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Positional Embedding</a:t>
            </a:r>
            <a:endParaRPr/>
          </a:p>
        </p:txBody>
      </p:sp>
      <p:pic>
        <p:nvPicPr>
          <p:cNvPr id="93" name="Google Shape;93;p17"/>
          <p:cNvPicPr preferRelativeResize="0"/>
          <p:nvPr/>
        </p:nvPicPr>
        <p:blipFill>
          <a:blip r:embed="rId3">
            <a:alphaModFix/>
          </a:blip>
          <a:stretch>
            <a:fillRect/>
          </a:stretch>
        </p:blipFill>
        <p:spPr>
          <a:xfrm>
            <a:off x="77200" y="1592300"/>
            <a:ext cx="8839202" cy="3457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Positional Embedding</a:t>
            </a:r>
            <a:endParaRPr/>
          </a:p>
        </p:txBody>
      </p:sp>
      <p:pic>
        <p:nvPicPr>
          <p:cNvPr id="99" name="Google Shape;99;p18"/>
          <p:cNvPicPr preferRelativeResize="0"/>
          <p:nvPr/>
        </p:nvPicPr>
        <p:blipFill>
          <a:blip r:embed="rId3">
            <a:alphaModFix/>
          </a:blip>
          <a:stretch>
            <a:fillRect/>
          </a:stretch>
        </p:blipFill>
        <p:spPr>
          <a:xfrm>
            <a:off x="849425" y="1942075"/>
            <a:ext cx="3552825" cy="866775"/>
          </a:xfrm>
          <a:prstGeom prst="rect">
            <a:avLst/>
          </a:prstGeom>
          <a:noFill/>
          <a:ln>
            <a:noFill/>
          </a:ln>
        </p:spPr>
      </p:pic>
      <p:sp>
        <p:nvSpPr>
          <p:cNvPr id="100" name="Google Shape;100;p18"/>
          <p:cNvSpPr txBox="1"/>
          <p:nvPr/>
        </p:nvSpPr>
        <p:spPr>
          <a:xfrm>
            <a:off x="4572000" y="2191825"/>
            <a:ext cx="355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a:t>
            </a:r>
            <a:r>
              <a:rPr lang="en" sz="1800">
                <a:solidFill>
                  <a:schemeClr val="dk2"/>
                </a:solidFill>
              </a:rPr>
              <a:t>os = position, i = 0, 1, …, 512</a:t>
            </a:r>
            <a:endParaRPr sz="1800">
              <a:solidFill>
                <a:schemeClr val="dk2"/>
              </a:solidFill>
            </a:endParaRPr>
          </a:p>
        </p:txBody>
      </p:sp>
      <p:sp>
        <p:nvSpPr>
          <p:cNvPr id="101" name="Google Shape;101;p18"/>
          <p:cNvSpPr txBox="1"/>
          <p:nvPr/>
        </p:nvSpPr>
        <p:spPr>
          <a:xfrm>
            <a:off x="849425" y="3512375"/>
            <a:ext cx="7764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Note: We only need to compute positional encoding once and reuse them for every sentence, no matter if it is training or inference.</a:t>
            </a:r>
            <a:endParaRPr sz="1800">
              <a:solidFill>
                <a:schemeClr val="dk2"/>
              </a:solidFill>
            </a:endParaRPr>
          </a:p>
        </p:txBody>
      </p:sp>
      <p:sp>
        <p:nvSpPr>
          <p:cNvPr id="102" name="Google Shape;102;p18"/>
          <p:cNvSpPr txBox="1"/>
          <p:nvPr/>
        </p:nvSpPr>
        <p:spPr>
          <a:xfrm>
            <a:off x="849425" y="1730125"/>
            <a:ext cx="820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For each position we calculate the value using these two expressions,</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Encoder </a:t>
            </a:r>
            <a:endParaRPr/>
          </a:p>
        </p:txBody>
      </p:sp>
      <p:pic>
        <p:nvPicPr>
          <p:cNvPr id="108" name="Google Shape;108;p19"/>
          <p:cNvPicPr preferRelativeResize="0"/>
          <p:nvPr/>
        </p:nvPicPr>
        <p:blipFill>
          <a:blip r:embed="rId3">
            <a:alphaModFix/>
          </a:blip>
          <a:stretch>
            <a:fillRect/>
          </a:stretch>
        </p:blipFill>
        <p:spPr>
          <a:xfrm>
            <a:off x="3286225" y="1017713"/>
            <a:ext cx="2352675" cy="3914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Self-Attention?</a:t>
            </a:r>
            <a:endParaRPr/>
          </a:p>
        </p:txBody>
      </p:sp>
      <p:sp>
        <p:nvSpPr>
          <p:cNvPr id="114" name="Google Shape;114;p20"/>
          <p:cNvSpPr txBox="1"/>
          <p:nvPr>
            <p:ph idx="1" type="body"/>
          </p:nvPr>
        </p:nvSpPr>
        <p:spPr>
          <a:xfrm>
            <a:off x="25" y="1152475"/>
            <a:ext cx="9144000" cy="3907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Mapping a query Q and set of Key-Value pair (K,V). Self-attention allows model to relate words with each other. </a:t>
            </a:r>
            <a:endParaRPr/>
          </a:p>
          <a:p>
            <a:pPr indent="0" lvl="0" marL="0" rtl="0" algn="l">
              <a:spcBef>
                <a:spcPts val="1200"/>
              </a:spcBef>
              <a:spcAft>
                <a:spcPts val="0"/>
              </a:spcAft>
              <a:buNone/>
            </a:pPr>
            <a:r>
              <a:rPr lang="en"/>
              <a:t>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    </a:t>
            </a:r>
            <a:endParaRPr/>
          </a:p>
          <a:p>
            <a:pPr indent="0" lvl="0" marL="0" rtl="0" algn="l">
              <a:spcBef>
                <a:spcPts val="1200"/>
              </a:spcBef>
              <a:spcAft>
                <a:spcPts val="1200"/>
              </a:spcAft>
              <a:buNone/>
            </a:pPr>
            <a:r>
              <a:t/>
            </a:r>
            <a:endParaRPr/>
          </a:p>
        </p:txBody>
      </p:sp>
      <p:pic>
        <p:nvPicPr>
          <p:cNvPr id="115" name="Google Shape;115;p20"/>
          <p:cNvPicPr preferRelativeResize="0"/>
          <p:nvPr/>
        </p:nvPicPr>
        <p:blipFill>
          <a:blip r:embed="rId3">
            <a:alphaModFix/>
          </a:blip>
          <a:stretch>
            <a:fillRect/>
          </a:stretch>
        </p:blipFill>
        <p:spPr>
          <a:xfrm>
            <a:off x="311702" y="2818412"/>
            <a:ext cx="4042425" cy="806363"/>
          </a:xfrm>
          <a:prstGeom prst="rect">
            <a:avLst/>
          </a:prstGeom>
          <a:noFill/>
          <a:ln>
            <a:noFill/>
          </a:ln>
        </p:spPr>
      </p:pic>
      <p:pic>
        <p:nvPicPr>
          <p:cNvPr id="116" name="Google Shape;116;p20"/>
          <p:cNvPicPr preferRelativeResize="0"/>
          <p:nvPr/>
        </p:nvPicPr>
        <p:blipFill>
          <a:blip r:embed="rId4">
            <a:alphaModFix/>
          </a:blip>
          <a:stretch>
            <a:fillRect/>
          </a:stretch>
        </p:blipFill>
        <p:spPr>
          <a:xfrm>
            <a:off x="4937594" y="2584088"/>
            <a:ext cx="1541478" cy="1275000"/>
          </a:xfrm>
          <a:prstGeom prst="rect">
            <a:avLst/>
          </a:prstGeom>
          <a:noFill/>
          <a:ln>
            <a:noFill/>
          </a:ln>
        </p:spPr>
      </p:pic>
      <p:pic>
        <p:nvPicPr>
          <p:cNvPr id="117" name="Google Shape;117;p20"/>
          <p:cNvPicPr preferRelativeResize="0"/>
          <p:nvPr/>
        </p:nvPicPr>
        <p:blipFill>
          <a:blip r:embed="rId5">
            <a:alphaModFix/>
          </a:blip>
          <a:stretch>
            <a:fillRect/>
          </a:stretch>
        </p:blipFill>
        <p:spPr>
          <a:xfrm>
            <a:off x="6760454" y="2468875"/>
            <a:ext cx="1359114" cy="127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Multi-head Attention</a:t>
            </a:r>
            <a:endParaRPr/>
          </a:p>
        </p:txBody>
      </p:sp>
      <p:pic>
        <p:nvPicPr>
          <p:cNvPr id="123" name="Google Shape;123;p21"/>
          <p:cNvPicPr preferRelativeResize="0"/>
          <p:nvPr/>
        </p:nvPicPr>
        <p:blipFill>
          <a:blip r:embed="rId3">
            <a:alphaModFix/>
          </a:blip>
          <a:stretch>
            <a:fillRect/>
          </a:stretch>
        </p:blipFill>
        <p:spPr>
          <a:xfrm>
            <a:off x="503525" y="1299150"/>
            <a:ext cx="5010150" cy="942975"/>
          </a:xfrm>
          <a:prstGeom prst="rect">
            <a:avLst/>
          </a:prstGeom>
          <a:noFill/>
          <a:ln>
            <a:noFill/>
          </a:ln>
        </p:spPr>
      </p:pic>
      <p:pic>
        <p:nvPicPr>
          <p:cNvPr id="124" name="Google Shape;124;p21"/>
          <p:cNvPicPr preferRelativeResize="0"/>
          <p:nvPr/>
        </p:nvPicPr>
        <p:blipFill>
          <a:blip r:embed="rId4">
            <a:alphaModFix/>
          </a:blip>
          <a:stretch>
            <a:fillRect/>
          </a:stretch>
        </p:blipFill>
        <p:spPr>
          <a:xfrm>
            <a:off x="833638" y="2242125"/>
            <a:ext cx="4349923" cy="2432125"/>
          </a:xfrm>
          <a:prstGeom prst="rect">
            <a:avLst/>
          </a:prstGeom>
          <a:noFill/>
          <a:ln>
            <a:noFill/>
          </a:ln>
        </p:spPr>
      </p:pic>
      <p:sp>
        <p:nvSpPr>
          <p:cNvPr id="125" name="Google Shape;125;p21"/>
          <p:cNvSpPr txBox="1"/>
          <p:nvPr/>
        </p:nvSpPr>
        <p:spPr>
          <a:xfrm>
            <a:off x="5183550" y="2230425"/>
            <a:ext cx="3977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Types of Attention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Dot product(multiplication) attention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Additive attention</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of Attention in Model</a:t>
            </a:r>
            <a:endParaRPr/>
          </a:p>
        </p:txBody>
      </p:sp>
      <p:sp>
        <p:nvSpPr>
          <p:cNvPr id="131" name="Google Shape;13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Encoder-Decoder Attention</a:t>
            </a:r>
            <a:endParaRPr/>
          </a:p>
          <a:p>
            <a:pPr indent="-342900" lvl="0" marL="457200" rtl="0" algn="l">
              <a:spcBef>
                <a:spcPts val="0"/>
              </a:spcBef>
              <a:spcAft>
                <a:spcPts val="0"/>
              </a:spcAft>
              <a:buSzPts val="1800"/>
              <a:buAutoNum type="arabicPeriod"/>
            </a:pPr>
            <a:r>
              <a:rPr lang="en"/>
              <a:t>Encoder contains self-attention layer.</a:t>
            </a:r>
            <a:endParaRPr/>
          </a:p>
          <a:p>
            <a:pPr indent="-342900" lvl="0" marL="457200" rtl="0" algn="l">
              <a:spcBef>
                <a:spcPts val="0"/>
              </a:spcBef>
              <a:spcAft>
                <a:spcPts val="0"/>
              </a:spcAft>
              <a:buSzPts val="1800"/>
              <a:buAutoNum type="arabicPeriod"/>
            </a:pPr>
            <a:r>
              <a:rPr lang="en"/>
              <a:t>Decoder contain self-attention layer.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 Forward Network</a:t>
            </a:r>
            <a:endParaRPr/>
          </a:p>
        </p:txBody>
      </p:sp>
      <p:sp>
        <p:nvSpPr>
          <p:cNvPr id="137" name="Google Shape;13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8" name="Google Shape;138;p23"/>
          <p:cNvPicPr preferRelativeResize="0"/>
          <p:nvPr/>
        </p:nvPicPr>
        <p:blipFill>
          <a:blip r:embed="rId3">
            <a:alphaModFix/>
          </a:blip>
          <a:stretch>
            <a:fillRect/>
          </a:stretch>
        </p:blipFill>
        <p:spPr>
          <a:xfrm>
            <a:off x="311700" y="1279975"/>
            <a:ext cx="8520600" cy="28747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